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7"/>
    <p:restoredTop sz="94660"/>
  </p:normalViewPr>
  <p:slideViewPr>
    <p:cSldViewPr snapToGrid="0">
      <p:cViewPr varScale="1">
        <p:scale>
          <a:sx n="134" d="100"/>
          <a:sy n="134" d="100"/>
        </p:scale>
        <p:origin x="704" y="17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f535ccc555_0_7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3f535ccc555_0_7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f535ccc555_0_8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f535ccc555_0_8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endParaRPr sz="1000">
              <a:solidFill>
                <a:schemeClr val="dk1"/>
              </a:solidFill>
            </a:endParaRPr>
          </a:p>
          <a:p>
            <a:pPr marL="0" lvl="0" indent="0" algn="l" rtl="0">
              <a:lnSpc>
                <a:spcPct val="115000"/>
              </a:lnSpc>
              <a:spcBef>
                <a:spcPts val="1200"/>
              </a:spcBef>
              <a:spcAft>
                <a:spcPts val="120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f535ccc555_0_10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3f535ccc555_0_10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f535ccc555_0_11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3f535ccc555_0_1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
              <a:t>In the mid-fidelity prototype, we improved the visual and interaction design by creating a more polished map, a clearer menu structure, better feature categories, and an early AI-generated planning flow. This stage focused on organizing the site structure more clearly, improving visual, and making the travel-planning process easier to follow. It also helped show how map-based exploration could connect more directly to personalized trip planning.</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f535ccc555_0_13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f535ccc555_0_13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f535ccc555_0_14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f535ccc555_0_14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f535ccc555_0_16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3f535ccc555_0_16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_AND_BODY_14">
  <p:cSld name="TITLE_AND_BODY_14">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hyperlink" Target="https://chatgpt.com/share/69fbf7d0-2c3c-83ea-b512-018dc0e16166"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4.jpg"/><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6.jpg"/></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hyperlink" Target="https://doi.org/10.1002/piq.21143" TargetMode="External"/><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CCCC"/>
        </a:solidFill>
        <a:effectLst/>
      </p:bgPr>
    </p:bg>
    <p:spTree>
      <p:nvGrpSpPr>
        <p:cNvPr id="1" name="Shape 57"/>
        <p:cNvGrpSpPr/>
        <p:nvPr/>
      </p:nvGrpSpPr>
      <p:grpSpPr>
        <a:xfrm>
          <a:off x="0" y="0"/>
          <a:ext cx="0" cy="0"/>
          <a:chOff x="0" y="0"/>
          <a:chExt cx="0" cy="0"/>
        </a:xfrm>
      </p:grpSpPr>
      <p:sp>
        <p:nvSpPr>
          <p:cNvPr id="58" name="Google Shape;58;p14"/>
          <p:cNvSpPr txBox="1">
            <a:spLocks noGrp="1"/>
          </p:cNvSpPr>
          <p:nvPr>
            <p:ph type="title"/>
          </p:nvPr>
        </p:nvSpPr>
        <p:spPr>
          <a:xfrm>
            <a:off x="311700" y="224410"/>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2900" b="1" dirty="0">
                <a:latin typeface="Georgia"/>
                <a:ea typeface="Georgia"/>
                <a:cs typeface="Georgia"/>
                <a:sym typeface="Georgia"/>
              </a:rPr>
              <a:t>Motivation</a:t>
            </a:r>
            <a:endParaRPr sz="2900" b="1" dirty="0">
              <a:latin typeface="Georgia"/>
              <a:ea typeface="Georgia"/>
              <a:cs typeface="Georgia"/>
              <a:sym typeface="Georgia"/>
            </a:endParaRPr>
          </a:p>
        </p:txBody>
      </p:sp>
      <p:sp>
        <p:nvSpPr>
          <p:cNvPr id="59" name="Google Shape;59;p14"/>
          <p:cNvSpPr txBox="1">
            <a:spLocks noGrp="1"/>
          </p:cNvSpPr>
          <p:nvPr>
            <p:ph type="body" idx="1"/>
          </p:nvPr>
        </p:nvSpPr>
        <p:spPr>
          <a:xfrm>
            <a:off x="511250" y="2849569"/>
            <a:ext cx="4968300" cy="212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400" b="1">
                <a:solidFill>
                  <a:schemeClr val="dk1"/>
                </a:solidFill>
                <a:latin typeface="Georgia"/>
                <a:ea typeface="Georgia"/>
                <a:cs typeface="Georgia"/>
                <a:sym typeface="Georgia"/>
              </a:rPr>
              <a:t>Problem We Are Solving</a:t>
            </a:r>
            <a:endParaRPr sz="1100">
              <a:latin typeface="Georgia"/>
              <a:ea typeface="Georgia"/>
              <a:cs typeface="Georgia"/>
              <a:sym typeface="Georgia"/>
            </a:endParaRPr>
          </a:p>
          <a:p>
            <a:pPr marL="457200" lvl="0" indent="-298450" algn="l" rtl="0">
              <a:spcBef>
                <a:spcPts val="1200"/>
              </a:spcBef>
              <a:spcAft>
                <a:spcPts val="0"/>
              </a:spcAft>
              <a:buClr>
                <a:schemeClr val="dk1"/>
              </a:buClr>
              <a:buSzPts val="1100"/>
              <a:buFont typeface="Georgia"/>
              <a:buChar char="➔"/>
            </a:pPr>
            <a:r>
              <a:rPr lang="en" sz="1100">
                <a:solidFill>
                  <a:schemeClr val="dk1"/>
                </a:solidFill>
                <a:latin typeface="Georgia"/>
                <a:ea typeface="Georgia"/>
                <a:cs typeface="Georgia"/>
                <a:sym typeface="Georgia"/>
              </a:rPr>
              <a:t>First-time and international visitors often face more than a navigation problem when visiting Boston. They need to learn how to understand the city’s geography, transportation system, cultural landmarks, local history, budget expectations, and everyday travel decisions.</a:t>
            </a:r>
            <a:endParaRPr sz="1100">
              <a:solidFill>
                <a:schemeClr val="dk1"/>
              </a:solidFill>
              <a:latin typeface="Georgia"/>
              <a:ea typeface="Georgia"/>
              <a:cs typeface="Georgia"/>
              <a:sym typeface="Georgia"/>
            </a:endParaRPr>
          </a:p>
          <a:p>
            <a:pPr marL="457200" lvl="0" indent="-298450" algn="l" rtl="0">
              <a:spcBef>
                <a:spcPts val="0"/>
              </a:spcBef>
              <a:spcAft>
                <a:spcPts val="0"/>
              </a:spcAft>
              <a:buSzPts val="1100"/>
              <a:buFont typeface="Georgia"/>
              <a:buChar char="➔"/>
            </a:pPr>
            <a:endParaRPr sz="1100">
              <a:latin typeface="Georgia"/>
              <a:ea typeface="Georgia"/>
              <a:cs typeface="Georgia"/>
              <a:sym typeface="Georgia"/>
            </a:endParaRPr>
          </a:p>
          <a:p>
            <a:pPr marL="457200" lvl="0" indent="-298450" algn="l" rtl="0">
              <a:spcBef>
                <a:spcPts val="0"/>
              </a:spcBef>
              <a:spcAft>
                <a:spcPts val="0"/>
              </a:spcAft>
              <a:buClr>
                <a:schemeClr val="dk1"/>
              </a:buClr>
              <a:buSzPts val="1100"/>
              <a:buFont typeface="Georgia"/>
              <a:buChar char="➔"/>
            </a:pPr>
            <a:r>
              <a:rPr lang="en" sz="1100">
                <a:solidFill>
                  <a:schemeClr val="dk1"/>
                </a:solidFill>
                <a:latin typeface="Georgia"/>
                <a:ea typeface="Georgia"/>
                <a:cs typeface="Georgia"/>
                <a:sym typeface="Georgia"/>
              </a:rPr>
              <a:t>Most travel tools help users find places, but they do not always help users learn how to plan a meaningful, realistic, and culturally informed trip. </a:t>
            </a:r>
            <a:endParaRPr sz="1100">
              <a:solidFill>
                <a:schemeClr val="dk1"/>
              </a:solidFill>
              <a:latin typeface="Georgia"/>
              <a:ea typeface="Georgia"/>
              <a:cs typeface="Georgia"/>
              <a:sym typeface="Georgia"/>
            </a:endParaRPr>
          </a:p>
          <a:p>
            <a:pPr marL="0" lvl="0" indent="0" algn="l" rtl="0">
              <a:spcBef>
                <a:spcPts val="1200"/>
              </a:spcBef>
              <a:spcAft>
                <a:spcPts val="0"/>
              </a:spcAft>
              <a:buNone/>
            </a:pPr>
            <a:endParaRPr sz="900">
              <a:solidFill>
                <a:schemeClr val="dk1"/>
              </a:solidFill>
              <a:latin typeface="Georgia"/>
              <a:ea typeface="Georgia"/>
              <a:cs typeface="Georgia"/>
              <a:sym typeface="Georgia"/>
            </a:endParaRPr>
          </a:p>
          <a:p>
            <a:pPr marL="0" lvl="0" indent="0" algn="l" rtl="0">
              <a:spcBef>
                <a:spcPts val="1200"/>
              </a:spcBef>
              <a:spcAft>
                <a:spcPts val="0"/>
              </a:spcAft>
              <a:buNone/>
            </a:pPr>
            <a:endParaRPr sz="1000">
              <a:solidFill>
                <a:schemeClr val="dk1"/>
              </a:solidFill>
              <a:latin typeface="Georgia"/>
              <a:ea typeface="Georgia"/>
              <a:cs typeface="Georgia"/>
              <a:sym typeface="Georgia"/>
            </a:endParaRPr>
          </a:p>
          <a:p>
            <a:pPr marL="0" lvl="0" indent="0" algn="l" rtl="0">
              <a:spcBef>
                <a:spcPts val="1200"/>
              </a:spcBef>
              <a:spcAft>
                <a:spcPts val="0"/>
              </a:spcAft>
              <a:buNone/>
            </a:pPr>
            <a:endParaRPr sz="950">
              <a:solidFill>
                <a:schemeClr val="dk1"/>
              </a:solidFill>
              <a:latin typeface="Georgia"/>
              <a:ea typeface="Georgia"/>
              <a:cs typeface="Georgia"/>
              <a:sym typeface="Georgia"/>
            </a:endParaRPr>
          </a:p>
          <a:p>
            <a:pPr marL="0" lvl="0" indent="0" algn="l" rtl="0">
              <a:spcBef>
                <a:spcPts val="1200"/>
              </a:spcBef>
              <a:spcAft>
                <a:spcPts val="1200"/>
              </a:spcAft>
              <a:buNone/>
            </a:pPr>
            <a:endParaRPr sz="1600"/>
          </a:p>
        </p:txBody>
      </p:sp>
      <p:sp>
        <p:nvSpPr>
          <p:cNvPr id="60" name="Google Shape;60;p14"/>
          <p:cNvSpPr/>
          <p:nvPr/>
        </p:nvSpPr>
        <p:spPr>
          <a:xfrm>
            <a:off x="444575" y="998639"/>
            <a:ext cx="4968300" cy="1649400"/>
          </a:xfrm>
          <a:prstGeom prst="flowChartAlternateProcess">
            <a:avLst/>
          </a:prstGeom>
          <a:solidFill>
            <a:srgbClr val="FFFFFF"/>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en" sz="1600" b="1">
                <a:solidFill>
                  <a:schemeClr val="dk1"/>
                </a:solidFill>
                <a:latin typeface="Georgia"/>
                <a:ea typeface="Georgia"/>
                <a:cs typeface="Georgia"/>
                <a:sym typeface="Georgia"/>
              </a:rPr>
              <a:t>Target Audience</a:t>
            </a:r>
            <a:endParaRPr sz="1300" b="1">
              <a:solidFill>
                <a:schemeClr val="dk1"/>
              </a:solidFill>
              <a:latin typeface="Georgia"/>
              <a:ea typeface="Georgia"/>
              <a:cs typeface="Georgia"/>
              <a:sym typeface="Georgia"/>
            </a:endParaRPr>
          </a:p>
          <a:p>
            <a:pPr marL="0" lvl="0" indent="0" algn="l" rtl="0">
              <a:lnSpc>
                <a:spcPct val="115000"/>
              </a:lnSpc>
              <a:spcBef>
                <a:spcPts val="1000"/>
              </a:spcBef>
              <a:spcAft>
                <a:spcPts val="0"/>
              </a:spcAft>
              <a:buClr>
                <a:schemeClr val="dk1"/>
              </a:buClr>
              <a:buSzPts val="1100"/>
              <a:buFont typeface="Arial"/>
              <a:buNone/>
            </a:pPr>
            <a:r>
              <a:rPr lang="en" sz="1300">
                <a:solidFill>
                  <a:schemeClr val="dk1"/>
                </a:solidFill>
                <a:latin typeface="Georgia"/>
                <a:ea typeface="Georgia"/>
                <a:cs typeface="Georgia"/>
                <a:sym typeface="Georgia"/>
              </a:rPr>
              <a:t>First-time Boston visitors, especially international tourists and newcomers who are unfamiliar with the city, especially parents of international students visiting Boston for May graduation ceremonies who want to take short, meaningful trips around the city </a:t>
            </a:r>
            <a:endParaRPr sz="1300"/>
          </a:p>
        </p:txBody>
      </p:sp>
      <p:sp>
        <p:nvSpPr>
          <p:cNvPr id="61" name="Google Shape;61;p14"/>
          <p:cNvSpPr/>
          <p:nvPr/>
        </p:nvSpPr>
        <p:spPr>
          <a:xfrm>
            <a:off x="5821650" y="1031419"/>
            <a:ext cx="3160500" cy="3636300"/>
          </a:xfrm>
          <a:prstGeom prst="flowChartAlternateProcess">
            <a:avLst/>
          </a:prstGeom>
          <a:solidFill>
            <a:srgbClr val="FFFFFF"/>
          </a:solidFill>
          <a:ln>
            <a:noFill/>
          </a:ln>
        </p:spPr>
        <p:txBody>
          <a:bodyPr spcFirstLastPara="1" wrap="square" lIns="91425" tIns="91425" rIns="91425" bIns="91425" anchor="ctr" anchorCtr="0">
            <a:noAutofit/>
          </a:bodyPr>
          <a:lstStyle/>
          <a:p>
            <a:pPr marL="0" lvl="0" indent="0" algn="ctr" rtl="0">
              <a:lnSpc>
                <a:spcPct val="115000"/>
              </a:lnSpc>
              <a:spcBef>
                <a:spcPts val="1000"/>
              </a:spcBef>
              <a:spcAft>
                <a:spcPts val="0"/>
              </a:spcAft>
              <a:buNone/>
            </a:pPr>
            <a:r>
              <a:rPr lang="en" sz="1500" b="1">
                <a:solidFill>
                  <a:schemeClr val="dk1"/>
                </a:solidFill>
                <a:latin typeface="Georgia"/>
                <a:ea typeface="Georgia"/>
                <a:cs typeface="Georgia"/>
                <a:sym typeface="Georgia"/>
              </a:rPr>
              <a:t>Learning Goal</a:t>
            </a:r>
            <a:endParaRPr sz="1500" b="1">
              <a:solidFill>
                <a:schemeClr val="dk1"/>
              </a:solidFill>
              <a:latin typeface="Georgia"/>
              <a:ea typeface="Georgia"/>
              <a:cs typeface="Georgia"/>
              <a:sym typeface="Georgia"/>
            </a:endParaRPr>
          </a:p>
          <a:p>
            <a:pPr marL="0" lvl="0" indent="0" algn="l" rtl="0">
              <a:lnSpc>
                <a:spcPct val="115000"/>
              </a:lnSpc>
              <a:spcBef>
                <a:spcPts val="0"/>
              </a:spcBef>
              <a:spcAft>
                <a:spcPts val="0"/>
              </a:spcAft>
              <a:buClr>
                <a:schemeClr val="dk1"/>
              </a:buClr>
              <a:buSzPts val="1100"/>
              <a:buFont typeface="Arial"/>
              <a:buNone/>
            </a:pPr>
            <a:endParaRPr sz="1300" b="1">
              <a:solidFill>
                <a:schemeClr val="dk1"/>
              </a:solidFill>
              <a:latin typeface="Georgia"/>
              <a:ea typeface="Georgia"/>
              <a:cs typeface="Georgia"/>
              <a:sym typeface="Georgia"/>
            </a:endParaRPr>
          </a:p>
          <a:p>
            <a:pPr marL="457200" lvl="0" indent="-304800" algn="l" rtl="0">
              <a:lnSpc>
                <a:spcPct val="115000"/>
              </a:lnSpc>
              <a:spcBef>
                <a:spcPts val="0"/>
              </a:spcBef>
              <a:spcAft>
                <a:spcPts val="0"/>
              </a:spcAft>
              <a:buClr>
                <a:schemeClr val="dk1"/>
              </a:buClr>
              <a:buSzPts val="1200"/>
              <a:buFont typeface="Georgia"/>
              <a:buChar char="❖"/>
            </a:pPr>
            <a:r>
              <a:rPr lang="en" sz="1200">
                <a:solidFill>
                  <a:schemeClr val="dk1"/>
                </a:solidFill>
                <a:latin typeface="Georgia"/>
                <a:ea typeface="Georgia"/>
                <a:cs typeface="Georgia"/>
                <a:sym typeface="Georgia"/>
              </a:rPr>
              <a:t>Identify major Boston neighborhoods, landmarks, and cultural sites.</a:t>
            </a:r>
            <a:endParaRPr sz="1200">
              <a:solidFill>
                <a:schemeClr val="dk1"/>
              </a:solidFill>
              <a:latin typeface="Georgia"/>
              <a:ea typeface="Georgia"/>
              <a:cs typeface="Georgia"/>
              <a:sym typeface="Georgia"/>
            </a:endParaRPr>
          </a:p>
          <a:p>
            <a:pPr marL="457200" lvl="0" indent="-304800" algn="l" rtl="0">
              <a:lnSpc>
                <a:spcPct val="115000"/>
              </a:lnSpc>
              <a:spcBef>
                <a:spcPts val="0"/>
              </a:spcBef>
              <a:spcAft>
                <a:spcPts val="0"/>
              </a:spcAft>
              <a:buClr>
                <a:schemeClr val="dk1"/>
              </a:buClr>
              <a:buSzPts val="1200"/>
              <a:buFont typeface="Georgia"/>
              <a:buChar char="❖"/>
            </a:pPr>
            <a:r>
              <a:rPr lang="en" sz="1200">
                <a:solidFill>
                  <a:schemeClr val="dk1"/>
                </a:solidFill>
                <a:latin typeface="Georgia"/>
                <a:ea typeface="Georgia"/>
                <a:cs typeface="Georgia"/>
                <a:sym typeface="Georgia"/>
              </a:rPr>
              <a:t>Understand basic historical and cultural context behind selected places.</a:t>
            </a:r>
            <a:endParaRPr sz="1200">
              <a:solidFill>
                <a:schemeClr val="dk1"/>
              </a:solidFill>
              <a:latin typeface="Georgia"/>
              <a:ea typeface="Georgia"/>
              <a:cs typeface="Georgia"/>
              <a:sym typeface="Georgia"/>
            </a:endParaRPr>
          </a:p>
          <a:p>
            <a:pPr marL="457200" lvl="0" indent="-304800" algn="l" rtl="0">
              <a:lnSpc>
                <a:spcPct val="115000"/>
              </a:lnSpc>
              <a:spcBef>
                <a:spcPts val="0"/>
              </a:spcBef>
              <a:spcAft>
                <a:spcPts val="0"/>
              </a:spcAft>
              <a:buClr>
                <a:schemeClr val="dk1"/>
              </a:buClr>
              <a:buSzPts val="1200"/>
              <a:buFont typeface="Georgia"/>
              <a:buChar char="❖"/>
            </a:pPr>
            <a:r>
              <a:rPr lang="en" sz="1200">
                <a:solidFill>
                  <a:schemeClr val="dk1"/>
                </a:solidFill>
                <a:latin typeface="Georgia"/>
                <a:ea typeface="Georgia"/>
                <a:cs typeface="Georgia"/>
                <a:sym typeface="Georgia"/>
              </a:rPr>
              <a:t>Make informed decisions about transportation, time, budget, restaurants, and souvenir options.</a:t>
            </a:r>
            <a:endParaRPr sz="1200">
              <a:solidFill>
                <a:schemeClr val="dk1"/>
              </a:solidFill>
              <a:latin typeface="Georgia"/>
              <a:ea typeface="Georgia"/>
              <a:cs typeface="Georgia"/>
              <a:sym typeface="Georgia"/>
            </a:endParaRPr>
          </a:p>
          <a:p>
            <a:pPr marL="457200" lvl="0" indent="-304800" algn="l" rtl="0">
              <a:lnSpc>
                <a:spcPct val="115000"/>
              </a:lnSpc>
              <a:spcBef>
                <a:spcPts val="0"/>
              </a:spcBef>
              <a:spcAft>
                <a:spcPts val="0"/>
              </a:spcAft>
              <a:buClr>
                <a:schemeClr val="dk1"/>
              </a:buClr>
              <a:buSzPts val="1200"/>
              <a:buFont typeface="Georgia"/>
              <a:buChar char="❖"/>
            </a:pPr>
            <a:r>
              <a:rPr lang="en" sz="1200">
                <a:solidFill>
                  <a:schemeClr val="dk1"/>
                </a:solidFill>
                <a:latin typeface="Georgia"/>
                <a:ea typeface="Georgia"/>
                <a:cs typeface="Georgia"/>
                <a:sym typeface="Georgia"/>
              </a:rPr>
              <a:t>Feel more confident navigating Boston independently.</a:t>
            </a:r>
            <a:endParaRPr sz="13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CCCC"/>
        </a:solidFill>
        <a:effectLst/>
      </p:bgPr>
    </p:bg>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311700" y="230170"/>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2900" b="1" dirty="0">
                <a:latin typeface="Georgia"/>
                <a:ea typeface="Georgia"/>
                <a:cs typeface="Georgia"/>
                <a:sym typeface="Georgia"/>
              </a:rPr>
              <a:t>Related Work and Gap</a:t>
            </a:r>
            <a:endParaRPr sz="2900" b="1" dirty="0">
              <a:latin typeface="Georgia"/>
              <a:ea typeface="Georgia"/>
              <a:cs typeface="Georgia"/>
              <a:sym typeface="Georgia"/>
            </a:endParaRPr>
          </a:p>
        </p:txBody>
      </p:sp>
      <p:sp>
        <p:nvSpPr>
          <p:cNvPr id="67" name="Google Shape;67;p15"/>
          <p:cNvSpPr txBox="1">
            <a:spLocks noGrp="1"/>
          </p:cNvSpPr>
          <p:nvPr>
            <p:ph type="body" idx="1"/>
          </p:nvPr>
        </p:nvSpPr>
        <p:spPr>
          <a:xfrm>
            <a:off x="6447300" y="844176"/>
            <a:ext cx="2696700" cy="318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400" b="1" dirty="0">
                <a:solidFill>
                  <a:schemeClr val="dk1"/>
                </a:solidFill>
                <a:latin typeface="Georgia"/>
                <a:ea typeface="Georgia"/>
                <a:cs typeface="Georgia"/>
                <a:sym typeface="Georgia"/>
              </a:rPr>
              <a:t>Gap</a:t>
            </a:r>
            <a:endParaRPr sz="1400" b="1" dirty="0">
              <a:solidFill>
                <a:schemeClr val="dk1"/>
              </a:solidFill>
              <a:latin typeface="Georgia"/>
              <a:ea typeface="Georgia"/>
              <a:cs typeface="Georgia"/>
              <a:sym typeface="Georgia"/>
            </a:endParaRPr>
          </a:p>
          <a:p>
            <a:pPr marL="0" lvl="0" indent="0" algn="l" rtl="0">
              <a:spcBef>
                <a:spcPts val="1200"/>
              </a:spcBef>
              <a:spcAft>
                <a:spcPts val="0"/>
              </a:spcAft>
              <a:buNone/>
            </a:pPr>
            <a:r>
              <a:rPr lang="en" sz="1300" dirty="0">
                <a:solidFill>
                  <a:schemeClr val="dk1"/>
                </a:solidFill>
                <a:latin typeface="Georgia"/>
                <a:ea typeface="Georgia"/>
                <a:cs typeface="Georgia"/>
                <a:sym typeface="Georgia"/>
              </a:rPr>
              <a:t>These tools often separate learning, navigation, and planning. First-time international visitors need one place to connect Boston’s culture and history with practical travel decisions.</a:t>
            </a:r>
            <a:endParaRPr sz="1300" dirty="0">
              <a:solidFill>
                <a:schemeClr val="dk1"/>
              </a:solidFill>
              <a:latin typeface="Georgia"/>
              <a:ea typeface="Georgia"/>
              <a:cs typeface="Georgia"/>
              <a:sym typeface="Georgia"/>
            </a:endParaRPr>
          </a:p>
          <a:p>
            <a:pPr marL="0" lvl="0" indent="0" algn="l" rtl="0">
              <a:spcBef>
                <a:spcPts val="1200"/>
              </a:spcBef>
              <a:spcAft>
                <a:spcPts val="0"/>
              </a:spcAft>
              <a:buNone/>
            </a:pPr>
            <a:endParaRPr sz="1300" dirty="0">
              <a:solidFill>
                <a:schemeClr val="dk1"/>
              </a:solidFill>
              <a:latin typeface="Georgia"/>
              <a:ea typeface="Georgia"/>
              <a:cs typeface="Georgia"/>
              <a:sym typeface="Georgia"/>
            </a:endParaRPr>
          </a:p>
          <a:p>
            <a:pPr marL="0" lvl="0" indent="0" algn="l" rtl="0">
              <a:spcBef>
                <a:spcPts val="1200"/>
              </a:spcBef>
              <a:spcAft>
                <a:spcPts val="0"/>
              </a:spcAft>
              <a:buNone/>
            </a:pPr>
            <a:r>
              <a:rPr lang="en" sz="1300" dirty="0">
                <a:solidFill>
                  <a:schemeClr val="dk1"/>
                </a:solidFill>
                <a:latin typeface="Georgia"/>
                <a:ea typeface="Georgia"/>
                <a:cs typeface="Georgia"/>
                <a:sym typeface="Georgia"/>
              </a:rPr>
              <a:t>Boston </a:t>
            </a:r>
            <a:r>
              <a:rPr lang="en" sz="1300" dirty="0" err="1">
                <a:solidFill>
                  <a:schemeClr val="dk1"/>
                </a:solidFill>
                <a:latin typeface="Georgia"/>
                <a:ea typeface="Georgia"/>
                <a:cs typeface="Georgia"/>
                <a:sym typeface="Georgia"/>
              </a:rPr>
              <a:t>EasyTrip</a:t>
            </a:r>
            <a:r>
              <a:rPr lang="en" sz="1300" dirty="0">
                <a:solidFill>
                  <a:schemeClr val="dk1"/>
                </a:solidFill>
                <a:latin typeface="Georgia"/>
                <a:ea typeface="Georgia"/>
                <a:cs typeface="Georgia"/>
                <a:sym typeface="Georgia"/>
              </a:rPr>
              <a:t> fills this gap by combining:</a:t>
            </a:r>
            <a:endParaRPr sz="1300" dirty="0">
              <a:solidFill>
                <a:schemeClr val="dk1"/>
              </a:solidFill>
              <a:latin typeface="Georgia"/>
              <a:ea typeface="Georgia"/>
              <a:cs typeface="Georgia"/>
              <a:sym typeface="Georgia"/>
            </a:endParaRPr>
          </a:p>
          <a:p>
            <a:pPr marL="0" lvl="0" indent="0" algn="l" rtl="0">
              <a:spcBef>
                <a:spcPts val="1200"/>
              </a:spcBef>
              <a:spcAft>
                <a:spcPts val="0"/>
              </a:spcAft>
              <a:buNone/>
            </a:pPr>
            <a:r>
              <a:rPr lang="en" sz="1300" b="1" dirty="0">
                <a:solidFill>
                  <a:schemeClr val="dk1"/>
                </a:solidFill>
                <a:latin typeface="Georgia"/>
                <a:ea typeface="Georgia"/>
                <a:cs typeface="Georgia"/>
                <a:sym typeface="Georgia"/>
              </a:rPr>
              <a:t>Cultural learning + interactive map + personalized planning + practical support + multilingual access</a:t>
            </a:r>
            <a:endParaRPr sz="1300" b="1" dirty="0">
              <a:solidFill>
                <a:schemeClr val="dk1"/>
              </a:solidFill>
              <a:latin typeface="Georgia"/>
              <a:ea typeface="Georgia"/>
              <a:cs typeface="Georgia"/>
              <a:sym typeface="Georgia"/>
            </a:endParaRPr>
          </a:p>
          <a:p>
            <a:pPr marL="0" lvl="0" indent="0" algn="l" rtl="0">
              <a:spcBef>
                <a:spcPts val="1200"/>
              </a:spcBef>
              <a:spcAft>
                <a:spcPts val="0"/>
              </a:spcAft>
              <a:buClr>
                <a:schemeClr val="dk1"/>
              </a:buClr>
              <a:buSzPts val="1100"/>
              <a:buFont typeface="Arial"/>
              <a:buNone/>
            </a:pPr>
            <a:endParaRPr sz="1100" dirty="0">
              <a:solidFill>
                <a:schemeClr val="dk1"/>
              </a:solidFill>
              <a:latin typeface="Georgia"/>
              <a:ea typeface="Georgia"/>
              <a:cs typeface="Georgia"/>
              <a:sym typeface="Georgia"/>
            </a:endParaRPr>
          </a:p>
          <a:p>
            <a:pPr marL="0" lvl="0" indent="0" algn="l" rtl="0">
              <a:spcBef>
                <a:spcPts val="1200"/>
              </a:spcBef>
              <a:spcAft>
                <a:spcPts val="0"/>
              </a:spcAft>
              <a:buNone/>
            </a:pPr>
            <a:endParaRPr sz="1100" dirty="0">
              <a:solidFill>
                <a:schemeClr val="dk1"/>
              </a:solidFill>
              <a:latin typeface="Georgia"/>
              <a:ea typeface="Georgia"/>
              <a:cs typeface="Georgia"/>
              <a:sym typeface="Georgia"/>
            </a:endParaRPr>
          </a:p>
          <a:p>
            <a:pPr marL="0" lvl="0" indent="0" algn="l" rtl="0">
              <a:spcBef>
                <a:spcPts val="1200"/>
              </a:spcBef>
              <a:spcAft>
                <a:spcPts val="0"/>
              </a:spcAft>
              <a:buNone/>
            </a:pPr>
            <a:endParaRPr sz="1150" dirty="0">
              <a:solidFill>
                <a:schemeClr val="dk1"/>
              </a:solidFill>
              <a:latin typeface="Georgia"/>
              <a:ea typeface="Georgia"/>
              <a:cs typeface="Georgia"/>
              <a:sym typeface="Georgia"/>
            </a:endParaRPr>
          </a:p>
          <a:p>
            <a:pPr marL="0" lvl="0" indent="0" algn="l" rtl="0">
              <a:spcBef>
                <a:spcPts val="1200"/>
              </a:spcBef>
              <a:spcAft>
                <a:spcPts val="1200"/>
              </a:spcAft>
              <a:buNone/>
            </a:pPr>
            <a:endParaRPr dirty="0"/>
          </a:p>
        </p:txBody>
      </p:sp>
      <p:pic>
        <p:nvPicPr>
          <p:cNvPr id="68" name="Google Shape;68;p15" title="WeChat7d915b27aac9faa85808f1c7be1d2432.jpg"/>
          <p:cNvPicPr preferRelativeResize="0"/>
          <p:nvPr/>
        </p:nvPicPr>
        <p:blipFill rotWithShape="1">
          <a:blip r:embed="rId3">
            <a:alphaModFix/>
          </a:blip>
          <a:srcRect l="1133" t="9706" r="1163" b="2297"/>
          <a:stretch/>
        </p:blipFill>
        <p:spPr>
          <a:xfrm>
            <a:off x="239400" y="1203356"/>
            <a:ext cx="6028075" cy="2972983"/>
          </a:xfrm>
          <a:prstGeom prst="rect">
            <a:avLst/>
          </a:prstGeom>
          <a:noFill/>
          <a:ln>
            <a:noFill/>
          </a:ln>
        </p:spPr>
      </p:pic>
      <p:sp>
        <p:nvSpPr>
          <p:cNvPr id="69" name="Google Shape;69;p15"/>
          <p:cNvSpPr txBox="1"/>
          <p:nvPr/>
        </p:nvSpPr>
        <p:spPr>
          <a:xfrm>
            <a:off x="661788" y="4576825"/>
            <a:ext cx="4935600" cy="46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chemeClr val="dk2"/>
                </a:solidFill>
                <a:latin typeface="Georgia"/>
                <a:ea typeface="Georgia"/>
                <a:cs typeface="Georgia"/>
                <a:sym typeface="Georgia"/>
              </a:rPr>
              <a:t>Deep Research by ChatGpt: </a:t>
            </a:r>
            <a:r>
              <a:rPr lang="en" sz="900" u="sng">
                <a:solidFill>
                  <a:schemeClr val="hlink"/>
                </a:solidFill>
                <a:latin typeface="Georgia"/>
                <a:ea typeface="Georgia"/>
                <a:cs typeface="Georgia"/>
                <a:sym typeface="Georgia"/>
                <a:hlinkClick r:id="rId4"/>
              </a:rPr>
              <a:t>https://chatgpt.com/share/69fbf7d0-2c3c-83ea-b512-018dc0e16166</a:t>
            </a:r>
            <a:endParaRPr sz="900">
              <a:solidFill>
                <a:schemeClr val="dk2"/>
              </a:solidFill>
              <a:latin typeface="Georgia"/>
              <a:ea typeface="Georgia"/>
              <a:cs typeface="Georgia"/>
              <a:sym typeface="Georgi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CCCC"/>
        </a:solidFill>
        <a:effectLst/>
      </p:bgPr>
    </p:bg>
    <p:spTree>
      <p:nvGrpSpPr>
        <p:cNvPr id="1" name="Shape 73"/>
        <p:cNvGrpSpPr/>
        <p:nvPr/>
      </p:nvGrpSpPr>
      <p:grpSpPr>
        <a:xfrm>
          <a:off x="0" y="0"/>
          <a:ext cx="0" cy="0"/>
          <a:chOff x="0" y="0"/>
          <a:chExt cx="0" cy="0"/>
        </a:xfrm>
      </p:grpSpPr>
      <p:sp>
        <p:nvSpPr>
          <p:cNvPr id="74" name="Google Shape;74;p16"/>
          <p:cNvSpPr txBox="1">
            <a:spLocks noGrp="1"/>
          </p:cNvSpPr>
          <p:nvPr>
            <p:ph type="title"/>
          </p:nvPr>
        </p:nvSpPr>
        <p:spPr>
          <a:xfrm>
            <a:off x="311700" y="1854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SzPct val="33904"/>
              <a:buNone/>
            </a:pPr>
            <a:r>
              <a:rPr lang="en" sz="2920">
                <a:latin typeface="Georgia"/>
                <a:ea typeface="Georgia"/>
                <a:cs typeface="Georgia"/>
                <a:sym typeface="Georgia"/>
              </a:rPr>
              <a:t>Design Process - Low-Fi Prototype (Codex)</a:t>
            </a:r>
            <a:endParaRPr sz="2920">
              <a:latin typeface="Georgia"/>
              <a:ea typeface="Georgia"/>
              <a:cs typeface="Georgia"/>
              <a:sym typeface="Georgia"/>
            </a:endParaRPr>
          </a:p>
        </p:txBody>
      </p:sp>
      <p:sp>
        <p:nvSpPr>
          <p:cNvPr id="75" name="Google Shape;75;p16"/>
          <p:cNvSpPr txBox="1">
            <a:spLocks noGrp="1"/>
          </p:cNvSpPr>
          <p:nvPr>
            <p:ph type="body" idx="1"/>
          </p:nvPr>
        </p:nvSpPr>
        <p:spPr>
          <a:xfrm>
            <a:off x="311700" y="3997029"/>
            <a:ext cx="8762700" cy="863400"/>
          </a:xfrm>
          <a:prstGeom prst="rect">
            <a:avLst/>
          </a:prstGeom>
        </p:spPr>
        <p:txBody>
          <a:bodyPr spcFirstLastPara="1" wrap="square" lIns="91425" tIns="91425" rIns="91425" bIns="91425" anchor="t" anchorCtr="0">
            <a:noAutofit/>
          </a:bodyPr>
          <a:lstStyle/>
          <a:p>
            <a:pPr marL="457200" lvl="0" indent="-317500" algn="l" rtl="0">
              <a:spcBef>
                <a:spcPts val="1200"/>
              </a:spcBef>
              <a:spcAft>
                <a:spcPts val="0"/>
              </a:spcAft>
              <a:buClr>
                <a:schemeClr val="dk1"/>
              </a:buClr>
              <a:buSzPts val="1400"/>
              <a:buFont typeface="Georgia"/>
              <a:buChar char="●"/>
            </a:pPr>
            <a:r>
              <a:rPr lang="en" sz="1100" dirty="0">
                <a:solidFill>
                  <a:schemeClr val="dk1"/>
                </a:solidFill>
                <a:latin typeface="Georgia"/>
                <a:ea typeface="Georgia"/>
                <a:cs typeface="Georgia"/>
                <a:sym typeface="Georgia"/>
              </a:rPr>
              <a:t>Focused on homepage, map, landmark pages, Trip Starter, and saved places</a:t>
            </a:r>
            <a:endParaRPr sz="1100" dirty="0">
              <a:solidFill>
                <a:schemeClr val="dk1"/>
              </a:solidFill>
              <a:latin typeface="Georgia"/>
              <a:ea typeface="Georgia"/>
              <a:cs typeface="Georgia"/>
              <a:sym typeface="Georgia"/>
            </a:endParaRPr>
          </a:p>
          <a:p>
            <a:pPr marL="457200" lvl="0" indent="-317500" algn="l" rtl="0">
              <a:spcBef>
                <a:spcPts val="0"/>
              </a:spcBef>
              <a:spcAft>
                <a:spcPts val="0"/>
              </a:spcAft>
              <a:buClr>
                <a:schemeClr val="dk1"/>
              </a:buClr>
              <a:buSzPts val="1400"/>
              <a:buFont typeface="Georgia"/>
              <a:buChar char="●"/>
            </a:pPr>
            <a:r>
              <a:rPr lang="en" sz="1100" dirty="0">
                <a:latin typeface="Georgia"/>
                <a:ea typeface="Georgia"/>
                <a:cs typeface="Georgia"/>
                <a:sym typeface="Georgia"/>
              </a:rPr>
              <a:t>Challenges</a:t>
            </a:r>
            <a:r>
              <a:rPr lang="en" sz="1100" dirty="0">
                <a:solidFill>
                  <a:schemeClr val="dk1"/>
                </a:solidFill>
                <a:latin typeface="Georgia"/>
                <a:ea typeface="Georgia"/>
                <a:cs typeface="Georgia"/>
                <a:sym typeface="Georgia"/>
              </a:rPr>
              <a:t>: poor flow, incorrect proportions, inconsistent structure, and wrong landmark placement</a:t>
            </a:r>
            <a:endParaRPr sz="1100" dirty="0">
              <a:solidFill>
                <a:schemeClr val="dk1"/>
              </a:solidFill>
              <a:latin typeface="Georgia"/>
              <a:ea typeface="Georgia"/>
              <a:cs typeface="Georgia"/>
              <a:sym typeface="Georgia"/>
            </a:endParaRPr>
          </a:p>
          <a:p>
            <a:pPr marL="457200" lvl="0" indent="-317500" algn="l" rtl="0">
              <a:spcBef>
                <a:spcPts val="0"/>
              </a:spcBef>
              <a:spcAft>
                <a:spcPts val="0"/>
              </a:spcAft>
              <a:buClr>
                <a:schemeClr val="dk1"/>
              </a:buClr>
              <a:buSzPts val="1400"/>
              <a:buFont typeface="Georgia"/>
              <a:buChar char="●"/>
            </a:pPr>
            <a:r>
              <a:rPr lang="en" sz="1100" dirty="0">
                <a:solidFill>
                  <a:schemeClr val="dk1"/>
                </a:solidFill>
                <a:latin typeface="Georgia"/>
                <a:ea typeface="Georgia"/>
                <a:cs typeface="Georgia"/>
                <a:sym typeface="Georgia"/>
              </a:rPr>
              <a:t>This stage helped us clarify the basic components we needed, but it also showed that the prototype tool was not reliable enough for building a clean and accurate interaction flow.</a:t>
            </a:r>
            <a:endParaRPr sz="1100" dirty="0">
              <a:solidFill>
                <a:schemeClr val="dk1"/>
              </a:solidFill>
              <a:latin typeface="Georgia"/>
              <a:ea typeface="Georgia"/>
              <a:cs typeface="Georgia"/>
              <a:sym typeface="Georgia"/>
            </a:endParaRPr>
          </a:p>
        </p:txBody>
      </p:sp>
      <p:pic>
        <p:nvPicPr>
          <p:cNvPr id="76" name="Google Shape;76;p16" title="WeChat2aff52ad2b2ec18e03f7c8036127e8d6.jpg"/>
          <p:cNvPicPr preferRelativeResize="0"/>
          <p:nvPr/>
        </p:nvPicPr>
        <p:blipFill rotWithShape="1">
          <a:blip r:embed="rId3">
            <a:alphaModFix/>
          </a:blip>
          <a:srcRect l="12987" r="19514"/>
          <a:stretch/>
        </p:blipFill>
        <p:spPr>
          <a:xfrm>
            <a:off x="4191272" y="1000125"/>
            <a:ext cx="4952727" cy="3186579"/>
          </a:xfrm>
          <a:prstGeom prst="rect">
            <a:avLst/>
          </a:prstGeom>
          <a:noFill/>
          <a:ln>
            <a:noFill/>
          </a:ln>
        </p:spPr>
      </p:pic>
      <p:pic>
        <p:nvPicPr>
          <p:cNvPr id="77" name="Google Shape;77;p16" title="WeChate113f68c33b03368b2d4a4a8961ce4d4.jpg"/>
          <p:cNvPicPr preferRelativeResize="0"/>
          <p:nvPr/>
        </p:nvPicPr>
        <p:blipFill rotWithShape="1">
          <a:blip r:embed="rId4">
            <a:alphaModFix/>
          </a:blip>
          <a:srcRect l="1145" r="969"/>
          <a:stretch/>
        </p:blipFill>
        <p:spPr>
          <a:xfrm>
            <a:off x="133350" y="866562"/>
            <a:ext cx="4057923" cy="1825813"/>
          </a:xfrm>
          <a:prstGeom prst="rect">
            <a:avLst/>
          </a:prstGeom>
          <a:noFill/>
          <a:ln>
            <a:noFill/>
          </a:ln>
        </p:spPr>
      </p:pic>
      <p:pic>
        <p:nvPicPr>
          <p:cNvPr id="78" name="Google Shape;78;p16" title="WeChat021dbc2e6b3c6b0e6863b475fdfe59b9.jpg"/>
          <p:cNvPicPr preferRelativeResize="0"/>
          <p:nvPr/>
        </p:nvPicPr>
        <p:blipFill>
          <a:blip r:embed="rId5">
            <a:alphaModFix/>
          </a:blip>
          <a:stretch>
            <a:fillRect/>
          </a:stretch>
        </p:blipFill>
        <p:spPr>
          <a:xfrm>
            <a:off x="595053" y="2571750"/>
            <a:ext cx="1567258" cy="152615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CCCC"/>
        </a:solidFill>
        <a:effectLst/>
      </p:bgPr>
    </p:bg>
    <p:spTree>
      <p:nvGrpSpPr>
        <p:cNvPr id="1" name="Shape 82"/>
        <p:cNvGrpSpPr/>
        <p:nvPr/>
      </p:nvGrpSpPr>
      <p:grpSpPr>
        <a:xfrm>
          <a:off x="0" y="0"/>
          <a:ext cx="0" cy="0"/>
          <a:chOff x="0" y="0"/>
          <a:chExt cx="0" cy="0"/>
        </a:xfrm>
      </p:grpSpPr>
      <p:sp>
        <p:nvSpPr>
          <p:cNvPr id="83" name="Google Shape;83;p17"/>
          <p:cNvSpPr txBox="1">
            <a:spLocks noGrp="1"/>
          </p:cNvSpPr>
          <p:nvPr>
            <p:ph type="title"/>
          </p:nvPr>
        </p:nvSpPr>
        <p:spPr>
          <a:xfrm>
            <a:off x="311700" y="2639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SzPct val="35106"/>
              <a:buNone/>
            </a:pPr>
            <a:r>
              <a:rPr lang="en" sz="2820">
                <a:latin typeface="Georgia"/>
                <a:ea typeface="Georgia"/>
                <a:cs typeface="Georgia"/>
                <a:sym typeface="Georgia"/>
              </a:rPr>
              <a:t>Design Process - Mid-Fi Prototype (Lovable)</a:t>
            </a:r>
            <a:endParaRPr sz="2820">
              <a:latin typeface="Georgia"/>
              <a:ea typeface="Georgia"/>
              <a:cs typeface="Georgia"/>
              <a:sym typeface="Georgia"/>
            </a:endParaRPr>
          </a:p>
        </p:txBody>
      </p:sp>
      <p:sp>
        <p:nvSpPr>
          <p:cNvPr id="84" name="Google Shape;84;p17"/>
          <p:cNvSpPr txBox="1">
            <a:spLocks noGrp="1"/>
          </p:cNvSpPr>
          <p:nvPr>
            <p:ph type="body" idx="1"/>
          </p:nvPr>
        </p:nvSpPr>
        <p:spPr>
          <a:xfrm>
            <a:off x="311700" y="4130806"/>
            <a:ext cx="9144000" cy="774900"/>
          </a:xfrm>
          <a:prstGeom prst="rect">
            <a:avLst/>
          </a:prstGeom>
        </p:spPr>
        <p:txBody>
          <a:bodyPr spcFirstLastPara="1" wrap="square" lIns="91425" tIns="91425" rIns="91425" bIns="91425" anchor="t" anchorCtr="0">
            <a:noAutofit/>
          </a:bodyPr>
          <a:lstStyle/>
          <a:p>
            <a:pPr marL="457200" lvl="0" indent="-323850" algn="l" rtl="0">
              <a:spcBef>
                <a:spcPts val="0"/>
              </a:spcBef>
              <a:spcAft>
                <a:spcPts val="0"/>
              </a:spcAft>
              <a:buClr>
                <a:schemeClr val="dk1"/>
              </a:buClr>
              <a:buSzPts val="1500"/>
              <a:buFont typeface="Georgia"/>
              <a:buChar char="●"/>
            </a:pPr>
            <a:r>
              <a:rPr lang="en" sz="1500" dirty="0">
                <a:solidFill>
                  <a:schemeClr val="dk1"/>
                </a:solidFill>
                <a:latin typeface="Georgia"/>
                <a:ea typeface="Georgia"/>
                <a:cs typeface="Georgia"/>
                <a:sym typeface="Georgia"/>
              </a:rPr>
              <a:t>Improved visual map, menu structure, categories, and early AI plan flow</a:t>
            </a:r>
            <a:endParaRPr sz="1500" dirty="0">
              <a:solidFill>
                <a:schemeClr val="dk1"/>
              </a:solidFill>
              <a:latin typeface="Georgia"/>
              <a:ea typeface="Georgia"/>
              <a:cs typeface="Georgia"/>
              <a:sym typeface="Georgia"/>
            </a:endParaRPr>
          </a:p>
          <a:p>
            <a:pPr marL="457200" lvl="0" indent="-323850" algn="l" rtl="0">
              <a:spcBef>
                <a:spcPts val="0"/>
              </a:spcBef>
              <a:spcAft>
                <a:spcPts val="0"/>
              </a:spcAft>
              <a:buClr>
                <a:schemeClr val="dk1"/>
              </a:buClr>
              <a:buSzPts val="1500"/>
              <a:buFont typeface="Georgia"/>
              <a:buChar char="●"/>
            </a:pPr>
            <a:r>
              <a:rPr lang="en" sz="1500" dirty="0">
                <a:solidFill>
                  <a:schemeClr val="dk1"/>
                </a:solidFill>
                <a:latin typeface="Georgia"/>
                <a:ea typeface="Georgia"/>
                <a:cs typeface="Georgia"/>
                <a:sym typeface="Georgia"/>
              </a:rPr>
              <a:t>Helped create a clearer and more connected user experience</a:t>
            </a:r>
            <a:endParaRPr sz="1500" dirty="0">
              <a:solidFill>
                <a:schemeClr val="dk1"/>
              </a:solidFill>
              <a:latin typeface="Georgia"/>
              <a:ea typeface="Georgia"/>
              <a:cs typeface="Georgia"/>
              <a:sym typeface="Georgia"/>
            </a:endParaRPr>
          </a:p>
        </p:txBody>
      </p:sp>
      <p:pic>
        <p:nvPicPr>
          <p:cNvPr id="85" name="Google Shape;85;p17" title="11891778123740_.pic_hd.jpg"/>
          <p:cNvPicPr preferRelativeResize="0"/>
          <p:nvPr/>
        </p:nvPicPr>
        <p:blipFill>
          <a:blip r:embed="rId3">
            <a:alphaModFix/>
          </a:blip>
          <a:stretch>
            <a:fillRect/>
          </a:stretch>
        </p:blipFill>
        <p:spPr>
          <a:xfrm>
            <a:off x="4690525" y="1012694"/>
            <a:ext cx="4348700" cy="2455614"/>
          </a:xfrm>
          <a:prstGeom prst="rect">
            <a:avLst/>
          </a:prstGeom>
          <a:noFill/>
          <a:ln>
            <a:noFill/>
          </a:ln>
        </p:spPr>
      </p:pic>
      <p:pic>
        <p:nvPicPr>
          <p:cNvPr id="86" name="Google Shape;86;p17" title="WeChatfe885f243f315bea83e2418a86c675f6.jpg"/>
          <p:cNvPicPr preferRelativeResize="0"/>
          <p:nvPr/>
        </p:nvPicPr>
        <p:blipFill>
          <a:blip r:embed="rId4">
            <a:alphaModFix/>
          </a:blip>
          <a:stretch>
            <a:fillRect/>
          </a:stretch>
        </p:blipFill>
        <p:spPr>
          <a:xfrm>
            <a:off x="171450" y="897523"/>
            <a:ext cx="4039071" cy="2125731"/>
          </a:xfrm>
          <a:prstGeom prst="rect">
            <a:avLst/>
          </a:prstGeom>
          <a:noFill/>
          <a:ln>
            <a:noFill/>
          </a:ln>
        </p:spPr>
      </p:pic>
      <p:sp>
        <p:nvSpPr>
          <p:cNvPr id="87" name="Google Shape;87;p17"/>
          <p:cNvSpPr/>
          <p:nvPr/>
        </p:nvSpPr>
        <p:spPr>
          <a:xfrm>
            <a:off x="171450" y="3383604"/>
            <a:ext cx="4679700" cy="4905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100" b="1" dirty="0">
                <a:solidFill>
                  <a:schemeClr val="dk1"/>
                </a:solidFill>
                <a:latin typeface="Georgia"/>
                <a:ea typeface="Georgia"/>
                <a:cs typeface="Georgia"/>
                <a:sym typeface="Georgia"/>
              </a:rPr>
              <a:t>Travel Planning + Cultural Learning + Personalized Guidance</a:t>
            </a:r>
            <a:endParaRPr sz="11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CCCC"/>
        </a:solidFill>
        <a:effectLst/>
      </p:bgPr>
    </p:bg>
    <p:spTree>
      <p:nvGrpSpPr>
        <p:cNvPr id="1" name="Shape 91"/>
        <p:cNvGrpSpPr/>
        <p:nvPr/>
      </p:nvGrpSpPr>
      <p:grpSpPr>
        <a:xfrm>
          <a:off x="0" y="0"/>
          <a:ext cx="0" cy="0"/>
          <a:chOff x="0" y="0"/>
          <a:chExt cx="0" cy="0"/>
        </a:xfrm>
      </p:grpSpPr>
      <p:sp>
        <p:nvSpPr>
          <p:cNvPr id="92" name="Google Shape;92;p18"/>
          <p:cNvSpPr txBox="1">
            <a:spLocks noGrp="1"/>
          </p:cNvSpPr>
          <p:nvPr>
            <p:ph type="title"/>
          </p:nvPr>
        </p:nvSpPr>
        <p:spPr>
          <a:xfrm>
            <a:off x="457200" y="434038"/>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sz="2900">
                <a:latin typeface="Georgia"/>
                <a:ea typeface="Georgia"/>
                <a:cs typeface="Georgia"/>
                <a:sym typeface="Georgia"/>
              </a:rPr>
              <a:t>Final Design</a:t>
            </a:r>
            <a:endParaRPr sz="2900">
              <a:latin typeface="Georgia"/>
              <a:ea typeface="Georgia"/>
              <a:cs typeface="Georgia"/>
              <a:sym typeface="Georgia"/>
            </a:endParaRPr>
          </a:p>
        </p:txBody>
      </p:sp>
      <p:sp>
        <p:nvSpPr>
          <p:cNvPr id="93" name="Google Shape;93;p18"/>
          <p:cNvSpPr/>
          <p:nvPr/>
        </p:nvSpPr>
        <p:spPr>
          <a:xfrm>
            <a:off x="374775" y="1188950"/>
            <a:ext cx="3747900" cy="2248500"/>
          </a:xfrm>
          <a:prstGeom prst="wedgeRoundRectCallout">
            <a:avLst>
              <a:gd name="adj1" fmla="val -32847"/>
              <a:gd name="adj2" fmla="val 64951"/>
              <a:gd name="adj3" fmla="val 0"/>
            </a:avLst>
          </a:prstGeom>
          <a:solidFill>
            <a:schemeClr val="lt1"/>
          </a:solidFill>
          <a:ln>
            <a:noFill/>
          </a:ln>
        </p:spPr>
        <p:txBody>
          <a:bodyPr spcFirstLastPara="1" wrap="square" lIns="91425" tIns="91425" rIns="91425" bIns="91425" anchor="ctr" anchorCtr="0">
            <a:noAutofit/>
          </a:bodyPr>
          <a:lstStyle/>
          <a:p>
            <a:pPr marL="0" lvl="0" indent="0" algn="ctr" rtl="0">
              <a:lnSpc>
                <a:spcPct val="115000"/>
              </a:lnSpc>
              <a:spcBef>
                <a:spcPts val="1200"/>
              </a:spcBef>
              <a:spcAft>
                <a:spcPts val="0"/>
              </a:spcAft>
              <a:buClr>
                <a:schemeClr val="dk1"/>
              </a:buClr>
              <a:buSzPts val="1100"/>
              <a:buFont typeface="Arial"/>
              <a:buNone/>
            </a:pPr>
            <a:r>
              <a:rPr lang="en" sz="1500" b="1">
                <a:solidFill>
                  <a:schemeClr val="dk1"/>
                </a:solidFill>
                <a:latin typeface="Georgia"/>
                <a:ea typeface="Georgia"/>
                <a:cs typeface="Georgia"/>
                <a:sym typeface="Georgia"/>
              </a:rPr>
              <a:t>User-testing Feedback</a:t>
            </a:r>
            <a:endParaRPr sz="1500" b="1">
              <a:solidFill>
                <a:schemeClr val="dk1"/>
              </a:solidFill>
              <a:latin typeface="Georgia"/>
              <a:ea typeface="Georgia"/>
              <a:cs typeface="Georgia"/>
              <a:sym typeface="Georgia"/>
            </a:endParaRPr>
          </a:p>
          <a:p>
            <a:pPr marL="457200" lvl="0" indent="-292100" algn="l" rtl="0">
              <a:lnSpc>
                <a:spcPct val="115000"/>
              </a:lnSpc>
              <a:spcBef>
                <a:spcPts val="1200"/>
              </a:spcBef>
              <a:spcAft>
                <a:spcPts val="0"/>
              </a:spcAft>
              <a:buClr>
                <a:schemeClr val="dk1"/>
              </a:buClr>
              <a:buSzPts val="1000"/>
              <a:buChar char="●"/>
            </a:pPr>
            <a:r>
              <a:rPr lang="en" sz="1200">
                <a:solidFill>
                  <a:schemeClr val="dk1"/>
                </a:solidFill>
                <a:latin typeface="Georgia"/>
                <a:ea typeface="Georgia"/>
                <a:cs typeface="Georgia"/>
                <a:sym typeface="Georgia"/>
              </a:rPr>
              <a:t>Unify repeated buttons that lead to the same page or feature to reduce confusion.</a:t>
            </a:r>
            <a:endParaRPr sz="1200">
              <a:solidFill>
                <a:schemeClr val="dk1"/>
              </a:solidFill>
              <a:latin typeface="Georgia"/>
              <a:ea typeface="Georgia"/>
              <a:cs typeface="Georgia"/>
              <a:sym typeface="Georgia"/>
            </a:endParaRPr>
          </a:p>
          <a:p>
            <a:pPr marL="457200" lvl="0" indent="-304800" algn="l" rtl="0">
              <a:lnSpc>
                <a:spcPct val="115000"/>
              </a:lnSpc>
              <a:spcBef>
                <a:spcPts val="0"/>
              </a:spcBef>
              <a:spcAft>
                <a:spcPts val="0"/>
              </a:spcAft>
              <a:buClr>
                <a:schemeClr val="dk1"/>
              </a:buClr>
              <a:buSzPts val="1200"/>
              <a:buFont typeface="Georgia"/>
              <a:buChar char="●"/>
            </a:pPr>
            <a:r>
              <a:rPr lang="en" sz="1200">
                <a:solidFill>
                  <a:schemeClr val="dk1"/>
                </a:solidFill>
                <a:latin typeface="Georgia"/>
                <a:ea typeface="Georgia"/>
                <a:cs typeface="Georgia"/>
                <a:sym typeface="Georgia"/>
              </a:rPr>
              <a:t>Need a way to evaluate users learning outcomes</a:t>
            </a:r>
            <a:endParaRPr sz="1200">
              <a:solidFill>
                <a:schemeClr val="dk1"/>
              </a:solidFill>
              <a:latin typeface="Georgia"/>
              <a:ea typeface="Georgia"/>
              <a:cs typeface="Georgia"/>
              <a:sym typeface="Georgia"/>
            </a:endParaRPr>
          </a:p>
          <a:p>
            <a:pPr marL="457200" lvl="0" indent="-304800" algn="l" rtl="0">
              <a:lnSpc>
                <a:spcPct val="115000"/>
              </a:lnSpc>
              <a:spcBef>
                <a:spcPts val="0"/>
              </a:spcBef>
              <a:spcAft>
                <a:spcPts val="0"/>
              </a:spcAft>
              <a:buClr>
                <a:schemeClr val="dk1"/>
              </a:buClr>
              <a:buSzPts val="1200"/>
              <a:buFont typeface="Georgia"/>
              <a:buChar char="●"/>
            </a:pPr>
            <a:r>
              <a:rPr lang="en" sz="1200">
                <a:solidFill>
                  <a:schemeClr val="dk1"/>
                </a:solidFill>
                <a:latin typeface="Georgia"/>
                <a:ea typeface="Georgia"/>
                <a:cs typeface="Georgia"/>
                <a:sym typeface="Georgia"/>
              </a:rPr>
              <a:t>Add practical travel information, including budget and souvenir options</a:t>
            </a:r>
            <a:endParaRPr sz="1200">
              <a:solidFill>
                <a:schemeClr val="dk1"/>
              </a:solidFill>
              <a:latin typeface="Georgia"/>
              <a:ea typeface="Georgia"/>
              <a:cs typeface="Georgia"/>
              <a:sym typeface="Georgia"/>
            </a:endParaRPr>
          </a:p>
          <a:p>
            <a:pPr marL="457200" lvl="0" indent="-304800" algn="l" rtl="0">
              <a:lnSpc>
                <a:spcPct val="115000"/>
              </a:lnSpc>
              <a:spcBef>
                <a:spcPts val="0"/>
              </a:spcBef>
              <a:spcAft>
                <a:spcPts val="0"/>
              </a:spcAft>
              <a:buClr>
                <a:schemeClr val="dk1"/>
              </a:buClr>
              <a:buSzPts val="1200"/>
              <a:buFont typeface="Georgia"/>
              <a:buChar char="●"/>
            </a:pPr>
            <a:r>
              <a:rPr lang="en" sz="1200">
                <a:solidFill>
                  <a:schemeClr val="dk1"/>
                </a:solidFill>
                <a:latin typeface="Georgia"/>
                <a:ea typeface="Georgia"/>
                <a:cs typeface="Georgia"/>
                <a:sym typeface="Georgia"/>
              </a:rPr>
              <a:t>Support manual/customized planning</a:t>
            </a:r>
            <a:endParaRPr sz="1500"/>
          </a:p>
        </p:txBody>
      </p:sp>
      <p:pic>
        <p:nvPicPr>
          <p:cNvPr id="94" name="Google Shape;94;p18" descr="Hand drawn style people waving illustration Vector illustration (Provided by Getty Images)"/>
          <p:cNvPicPr preferRelativeResize="0"/>
          <p:nvPr/>
        </p:nvPicPr>
        <p:blipFill rotWithShape="1">
          <a:blip r:embed="rId3">
            <a:alphaModFix/>
          </a:blip>
          <a:srcRect l="5705" t="13089" r="6119" b="13500"/>
          <a:stretch/>
        </p:blipFill>
        <p:spPr>
          <a:xfrm>
            <a:off x="647700" y="3860825"/>
            <a:ext cx="2171848" cy="1205100"/>
          </a:xfrm>
          <a:prstGeom prst="rect">
            <a:avLst/>
          </a:prstGeom>
          <a:noFill/>
          <a:ln>
            <a:noFill/>
          </a:ln>
          <a:effectLst>
            <a:outerShdw blurRad="57150" dist="19050" dir="5400000" algn="bl" rotWithShape="0">
              <a:srgbClr val="000000">
                <a:alpha val="50000"/>
              </a:srgbClr>
            </a:outerShdw>
          </a:effectLst>
        </p:spPr>
      </p:pic>
      <p:sp>
        <p:nvSpPr>
          <p:cNvPr id="95" name="Google Shape;95;p18"/>
          <p:cNvSpPr/>
          <p:nvPr/>
        </p:nvSpPr>
        <p:spPr>
          <a:xfrm>
            <a:off x="4383000" y="2247850"/>
            <a:ext cx="378000" cy="267600"/>
          </a:xfrm>
          <a:prstGeom prst="rightArrow">
            <a:avLst>
              <a:gd name="adj1" fmla="val 50000"/>
              <a:gd name="adj2" fmla="val 5000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6" name="Google Shape;96;p18"/>
          <p:cNvSpPr txBox="1"/>
          <p:nvPr/>
        </p:nvSpPr>
        <p:spPr>
          <a:xfrm>
            <a:off x="4761000" y="434038"/>
            <a:ext cx="4130400" cy="32826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en" b="1" dirty="0">
                <a:solidFill>
                  <a:schemeClr val="dk1"/>
                </a:solidFill>
                <a:latin typeface="Georgia"/>
                <a:ea typeface="Georgia"/>
                <a:cs typeface="Georgia"/>
                <a:sym typeface="Georgia"/>
              </a:rPr>
              <a:t>Refinement: </a:t>
            </a:r>
            <a:endParaRPr b="1" dirty="0">
              <a:solidFill>
                <a:schemeClr val="dk1"/>
              </a:solidFill>
              <a:latin typeface="Georgia"/>
              <a:ea typeface="Georgia"/>
              <a:cs typeface="Georgia"/>
              <a:sym typeface="Georgia"/>
            </a:endParaRPr>
          </a:p>
          <a:p>
            <a:pPr marL="457200" lvl="0" indent="-298450" algn="l" rtl="0">
              <a:lnSpc>
                <a:spcPct val="150000"/>
              </a:lnSpc>
              <a:spcBef>
                <a:spcPts val="1200"/>
              </a:spcBef>
              <a:spcAft>
                <a:spcPts val="0"/>
              </a:spcAft>
              <a:buClr>
                <a:schemeClr val="dk1"/>
              </a:buClr>
              <a:buSzPts val="1100"/>
              <a:buFont typeface="Georgia"/>
              <a:buAutoNum type="arabicPeriod"/>
            </a:pPr>
            <a:r>
              <a:rPr lang="en" sz="1100" b="1" dirty="0">
                <a:solidFill>
                  <a:schemeClr val="dk1"/>
                </a:solidFill>
                <a:latin typeface="Georgia"/>
                <a:ea typeface="Georgia"/>
                <a:cs typeface="Georgia"/>
                <a:sym typeface="Georgia"/>
              </a:rPr>
              <a:t>Expand the interactive map</a:t>
            </a:r>
            <a:r>
              <a:rPr lang="en" sz="1100" dirty="0">
                <a:solidFill>
                  <a:schemeClr val="dk1"/>
                </a:solidFill>
                <a:latin typeface="Georgia"/>
                <a:ea typeface="Georgia"/>
                <a:cs typeface="Georgia"/>
                <a:sym typeface="Georgia"/>
              </a:rPr>
              <a:t> by adding more Boston attractions and souvenir shops.</a:t>
            </a:r>
            <a:endParaRPr sz="1100" b="1" dirty="0">
              <a:solidFill>
                <a:schemeClr val="dk1"/>
              </a:solidFill>
              <a:latin typeface="Georgia"/>
              <a:ea typeface="Georgia"/>
              <a:cs typeface="Georgia"/>
              <a:sym typeface="Georgia"/>
            </a:endParaRPr>
          </a:p>
          <a:p>
            <a:pPr marL="457200" lvl="0" indent="-298450" algn="l" rtl="0">
              <a:lnSpc>
                <a:spcPct val="150000"/>
              </a:lnSpc>
              <a:spcBef>
                <a:spcPts val="0"/>
              </a:spcBef>
              <a:spcAft>
                <a:spcPts val="0"/>
              </a:spcAft>
              <a:buClr>
                <a:schemeClr val="dk1"/>
              </a:buClr>
              <a:buSzPts val="1100"/>
              <a:buFont typeface="Georgia"/>
              <a:buAutoNum type="arabicPeriod"/>
            </a:pPr>
            <a:r>
              <a:rPr lang="en" sz="1100" b="1" dirty="0">
                <a:solidFill>
                  <a:schemeClr val="dk1"/>
                </a:solidFill>
                <a:latin typeface="Georgia"/>
                <a:ea typeface="Georgia"/>
                <a:cs typeface="Georgia"/>
                <a:sym typeface="Georgia"/>
              </a:rPr>
              <a:t>Unify “My Favorites” and “Saved Places”</a:t>
            </a:r>
            <a:r>
              <a:rPr lang="en" sz="1100" dirty="0">
                <a:solidFill>
                  <a:schemeClr val="dk1"/>
                </a:solidFill>
                <a:latin typeface="Georgia"/>
                <a:ea typeface="Georgia"/>
                <a:cs typeface="Georgia"/>
                <a:sym typeface="Georgia"/>
              </a:rPr>
              <a:t> to reduce confusion and keep all saved locations in one place.</a:t>
            </a:r>
            <a:endParaRPr sz="1100" dirty="0">
              <a:solidFill>
                <a:schemeClr val="dk1"/>
              </a:solidFill>
              <a:latin typeface="Georgia"/>
              <a:ea typeface="Georgia"/>
              <a:cs typeface="Georgia"/>
              <a:sym typeface="Georgia"/>
            </a:endParaRPr>
          </a:p>
          <a:p>
            <a:pPr marL="457200" lvl="0" indent="-298450" algn="l" rtl="0">
              <a:lnSpc>
                <a:spcPct val="150000"/>
              </a:lnSpc>
              <a:spcBef>
                <a:spcPts val="0"/>
              </a:spcBef>
              <a:spcAft>
                <a:spcPts val="0"/>
              </a:spcAft>
              <a:buClr>
                <a:schemeClr val="dk1"/>
              </a:buClr>
              <a:buSzPts val="1100"/>
              <a:buFont typeface="Georgia"/>
              <a:buAutoNum type="arabicPeriod"/>
            </a:pPr>
            <a:r>
              <a:rPr lang="en" sz="1100" b="1" dirty="0">
                <a:solidFill>
                  <a:schemeClr val="dk1"/>
                </a:solidFill>
                <a:latin typeface="Georgia"/>
                <a:ea typeface="Georgia"/>
                <a:cs typeface="Georgia"/>
                <a:sym typeface="Georgia"/>
              </a:rPr>
              <a:t>Add 7-language translation support</a:t>
            </a:r>
            <a:r>
              <a:rPr lang="en" sz="1100" dirty="0">
                <a:solidFill>
                  <a:schemeClr val="dk1"/>
                </a:solidFill>
                <a:latin typeface="Georgia"/>
                <a:ea typeface="Georgia"/>
                <a:cs typeface="Georgia"/>
                <a:sym typeface="Georgia"/>
              </a:rPr>
              <a:t> for international visitors.</a:t>
            </a:r>
            <a:endParaRPr sz="1100" dirty="0">
              <a:solidFill>
                <a:schemeClr val="dk1"/>
              </a:solidFill>
              <a:latin typeface="Georgia"/>
              <a:ea typeface="Georgia"/>
              <a:cs typeface="Georgia"/>
              <a:sym typeface="Georgia"/>
            </a:endParaRPr>
          </a:p>
          <a:p>
            <a:pPr marL="457200" lvl="0" indent="-298450" algn="l" rtl="0">
              <a:lnSpc>
                <a:spcPct val="150000"/>
              </a:lnSpc>
              <a:spcBef>
                <a:spcPts val="0"/>
              </a:spcBef>
              <a:spcAft>
                <a:spcPts val="0"/>
              </a:spcAft>
              <a:buClr>
                <a:schemeClr val="dk1"/>
              </a:buClr>
              <a:buSzPts val="1100"/>
              <a:buFont typeface="Georgia"/>
              <a:buAutoNum type="arabicPeriod"/>
            </a:pPr>
            <a:r>
              <a:rPr lang="en" sz="1100" b="1" dirty="0">
                <a:solidFill>
                  <a:schemeClr val="dk1"/>
                </a:solidFill>
                <a:latin typeface="Georgia"/>
                <a:ea typeface="Georgia"/>
                <a:cs typeface="Georgia"/>
                <a:sym typeface="Georgia"/>
              </a:rPr>
              <a:t>Build customizable travel plans from users’ saved places</a:t>
            </a:r>
            <a:r>
              <a:rPr lang="en" sz="1100" dirty="0">
                <a:solidFill>
                  <a:schemeClr val="dk1"/>
                </a:solidFill>
                <a:latin typeface="Georgia"/>
                <a:ea typeface="Georgia"/>
                <a:cs typeface="Georgia"/>
                <a:sym typeface="Georgia"/>
              </a:rPr>
              <a:t>, including budget options and recommended nearby food spots.</a:t>
            </a:r>
            <a:endParaRPr sz="1100" dirty="0">
              <a:solidFill>
                <a:schemeClr val="dk1"/>
              </a:solidFill>
              <a:latin typeface="Georgia"/>
              <a:ea typeface="Georgia"/>
              <a:cs typeface="Georgia"/>
              <a:sym typeface="Georgia"/>
            </a:endParaRPr>
          </a:p>
          <a:p>
            <a:pPr marL="457200" lvl="0" indent="-298450" algn="l" rtl="0">
              <a:lnSpc>
                <a:spcPct val="150000"/>
              </a:lnSpc>
              <a:spcBef>
                <a:spcPts val="0"/>
              </a:spcBef>
              <a:spcAft>
                <a:spcPts val="0"/>
              </a:spcAft>
              <a:buClr>
                <a:schemeClr val="dk1"/>
              </a:buClr>
              <a:buSzPts val="1100"/>
              <a:buFont typeface="Georgia"/>
              <a:buAutoNum type="arabicPeriod"/>
            </a:pPr>
            <a:r>
              <a:rPr lang="en" sz="1100" b="1" dirty="0">
                <a:solidFill>
                  <a:schemeClr val="dk1"/>
                </a:solidFill>
                <a:latin typeface="Georgia"/>
                <a:ea typeface="Georgia"/>
                <a:cs typeface="Georgia"/>
                <a:sym typeface="Georgia"/>
              </a:rPr>
              <a:t>Add a multilingual AI chatbot</a:t>
            </a:r>
            <a:r>
              <a:rPr lang="en" sz="1100" dirty="0">
                <a:solidFill>
                  <a:schemeClr val="dk1"/>
                </a:solidFill>
                <a:latin typeface="Georgia"/>
                <a:ea typeface="Georgia"/>
                <a:cs typeface="Georgia"/>
                <a:sym typeface="Georgia"/>
              </a:rPr>
              <a:t> to answer travel questions, suggest routes, and explain cultural or historical information.</a:t>
            </a:r>
            <a:endParaRPr sz="1100" dirty="0">
              <a:solidFill>
                <a:schemeClr val="dk1"/>
              </a:solidFill>
              <a:latin typeface="Georgia"/>
              <a:ea typeface="Georgia"/>
              <a:cs typeface="Georgia"/>
              <a:sym typeface="Georgia"/>
            </a:endParaRPr>
          </a:p>
          <a:p>
            <a:pPr marL="457200" lvl="0" indent="-298450" algn="l" rtl="0">
              <a:lnSpc>
                <a:spcPct val="150000"/>
              </a:lnSpc>
              <a:spcBef>
                <a:spcPts val="0"/>
              </a:spcBef>
              <a:spcAft>
                <a:spcPts val="0"/>
              </a:spcAft>
              <a:buClr>
                <a:schemeClr val="dk1"/>
              </a:buClr>
              <a:buSzPts val="1100"/>
              <a:buFont typeface="Georgia"/>
              <a:buAutoNum type="arabicPeriod"/>
            </a:pPr>
            <a:r>
              <a:rPr lang="en" sz="1100" b="1" dirty="0">
                <a:solidFill>
                  <a:schemeClr val="dk1"/>
                </a:solidFill>
                <a:latin typeface="Georgia"/>
                <a:ea typeface="Georgia"/>
                <a:cs typeface="Georgia"/>
                <a:sym typeface="Georgia"/>
              </a:rPr>
              <a:t>Add interactive learning features</a:t>
            </a:r>
            <a:r>
              <a:rPr lang="en" sz="1100" dirty="0">
                <a:solidFill>
                  <a:schemeClr val="dk1"/>
                </a:solidFill>
                <a:latin typeface="Georgia"/>
                <a:ea typeface="Georgia"/>
                <a:cs typeface="Georgia"/>
                <a:sym typeface="Georgia"/>
              </a:rPr>
              <a:t>, including pre/post surveys and a travel diary for reflection.</a:t>
            </a:r>
            <a:endParaRPr sz="1100" dirty="0">
              <a:solidFill>
                <a:schemeClr val="dk1"/>
              </a:solidFill>
              <a:latin typeface="Georgia"/>
              <a:ea typeface="Georgia"/>
              <a:cs typeface="Georgia"/>
              <a:sym typeface="Georgi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CCCC"/>
        </a:solidFill>
        <a:effectLst/>
      </p:bgPr>
    </p:bg>
    <p:spTree>
      <p:nvGrpSpPr>
        <p:cNvPr id="1" name="Shape 100"/>
        <p:cNvGrpSpPr/>
        <p:nvPr/>
      </p:nvGrpSpPr>
      <p:grpSpPr>
        <a:xfrm>
          <a:off x="0" y="0"/>
          <a:ext cx="0" cy="0"/>
          <a:chOff x="0" y="0"/>
          <a:chExt cx="0" cy="0"/>
        </a:xfrm>
      </p:grpSpPr>
      <p:sp>
        <p:nvSpPr>
          <p:cNvPr id="101" name="Google Shape;101;p19"/>
          <p:cNvSpPr txBox="1">
            <a:spLocks noGrp="1"/>
          </p:cNvSpPr>
          <p:nvPr>
            <p:ph type="title"/>
          </p:nvPr>
        </p:nvSpPr>
        <p:spPr>
          <a:xfrm>
            <a:off x="311700" y="3351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sz="2900">
                <a:latin typeface="Georgia"/>
                <a:ea typeface="Georgia"/>
                <a:cs typeface="Georgia"/>
                <a:sym typeface="Georgia"/>
              </a:rPr>
              <a:t>Conclusions &amp; Future Work</a:t>
            </a:r>
            <a:endParaRPr sz="2900">
              <a:latin typeface="Georgia"/>
              <a:ea typeface="Georgia"/>
              <a:cs typeface="Georgia"/>
              <a:sym typeface="Georgia"/>
            </a:endParaRPr>
          </a:p>
        </p:txBody>
      </p:sp>
      <p:sp>
        <p:nvSpPr>
          <p:cNvPr id="102" name="Google Shape;102;p19"/>
          <p:cNvSpPr txBox="1">
            <a:spLocks noGrp="1"/>
          </p:cNvSpPr>
          <p:nvPr>
            <p:ph type="body" idx="1"/>
          </p:nvPr>
        </p:nvSpPr>
        <p:spPr>
          <a:xfrm>
            <a:off x="311700" y="1017725"/>
            <a:ext cx="8520600" cy="39102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1600" b="1" dirty="0">
                <a:solidFill>
                  <a:schemeClr val="dk1"/>
                </a:solidFill>
                <a:latin typeface="Georgia"/>
                <a:ea typeface="Georgia"/>
                <a:cs typeface="Georgia"/>
                <a:sym typeface="Georgia"/>
              </a:rPr>
              <a:t>Conclusion:</a:t>
            </a:r>
            <a:endParaRPr sz="1600" b="1" dirty="0">
              <a:solidFill>
                <a:schemeClr val="dk1"/>
              </a:solidFill>
              <a:latin typeface="Georgia"/>
              <a:ea typeface="Georgia"/>
              <a:cs typeface="Georgia"/>
              <a:sym typeface="Georgia"/>
            </a:endParaRPr>
          </a:p>
          <a:p>
            <a:pPr marL="0" lvl="0" indent="0" algn="l" rtl="0">
              <a:spcBef>
                <a:spcPts val="1200"/>
              </a:spcBef>
              <a:spcAft>
                <a:spcPts val="0"/>
              </a:spcAft>
              <a:buClr>
                <a:schemeClr val="dk1"/>
              </a:buClr>
              <a:buSzPts val="1100"/>
              <a:buFont typeface="Arial"/>
              <a:buNone/>
            </a:pPr>
            <a:r>
              <a:rPr lang="en" sz="1300" dirty="0">
                <a:solidFill>
                  <a:schemeClr val="dk1"/>
                </a:solidFill>
                <a:latin typeface="Georgia"/>
                <a:ea typeface="Georgia"/>
                <a:cs typeface="Georgia"/>
                <a:sym typeface="Georgia"/>
              </a:rPr>
              <a:t>Boston </a:t>
            </a:r>
            <a:r>
              <a:rPr lang="en" sz="1300" dirty="0" err="1">
                <a:solidFill>
                  <a:schemeClr val="dk1"/>
                </a:solidFill>
                <a:latin typeface="Georgia"/>
                <a:ea typeface="Georgia"/>
                <a:cs typeface="Georgia"/>
                <a:sym typeface="Georgia"/>
              </a:rPr>
              <a:t>EasyTrip</a:t>
            </a:r>
            <a:r>
              <a:rPr lang="en" sz="1300" dirty="0">
                <a:solidFill>
                  <a:schemeClr val="dk1"/>
                </a:solidFill>
                <a:latin typeface="Georgia"/>
                <a:ea typeface="Georgia"/>
                <a:cs typeface="Georgia"/>
                <a:sym typeface="Georgia"/>
              </a:rPr>
              <a:t> addresses a gap in travel tools: visitors can often find places, but still struggle to understand the city and plan confidently.</a:t>
            </a:r>
            <a:endParaRPr sz="1300" dirty="0">
              <a:solidFill>
                <a:schemeClr val="dk1"/>
              </a:solidFill>
              <a:latin typeface="Georgia"/>
              <a:ea typeface="Georgia"/>
              <a:cs typeface="Georgia"/>
              <a:sym typeface="Georgia"/>
            </a:endParaRPr>
          </a:p>
          <a:p>
            <a:pPr marL="0" lvl="0" indent="0" algn="l" rtl="0">
              <a:spcBef>
                <a:spcPts val="1200"/>
              </a:spcBef>
              <a:spcAft>
                <a:spcPts val="0"/>
              </a:spcAft>
              <a:buClr>
                <a:schemeClr val="dk1"/>
              </a:buClr>
              <a:buSzPts val="1100"/>
              <a:buFont typeface="Arial"/>
              <a:buNone/>
            </a:pPr>
            <a:r>
              <a:rPr lang="en" sz="1300" dirty="0">
                <a:solidFill>
                  <a:schemeClr val="dk1"/>
                </a:solidFill>
                <a:latin typeface="Georgia"/>
                <a:ea typeface="Georgia"/>
                <a:cs typeface="Georgia"/>
                <a:sym typeface="Georgia"/>
              </a:rPr>
              <a:t>Our final design turns trip planning into a learning experience by connecting map exploration, landmark stories, favorites, customized planning, practical support, translation, and reflection.</a:t>
            </a:r>
            <a:endParaRPr sz="1300" dirty="0">
              <a:solidFill>
                <a:schemeClr val="dk1"/>
              </a:solidFill>
              <a:latin typeface="Georgia"/>
              <a:ea typeface="Georgia"/>
              <a:cs typeface="Georgia"/>
              <a:sym typeface="Georgia"/>
            </a:endParaRPr>
          </a:p>
          <a:p>
            <a:pPr marL="0" marR="0" lvl="0" indent="0" algn="l" rtl="0">
              <a:lnSpc>
                <a:spcPct val="115000"/>
              </a:lnSpc>
              <a:spcBef>
                <a:spcPts val="1200"/>
              </a:spcBef>
              <a:spcAft>
                <a:spcPts val="0"/>
              </a:spcAft>
              <a:buNone/>
            </a:pPr>
            <a:r>
              <a:rPr lang="en" sz="1600" b="1" dirty="0">
                <a:solidFill>
                  <a:schemeClr val="dk1"/>
                </a:solidFill>
                <a:latin typeface="Georgia"/>
                <a:ea typeface="Georgia"/>
                <a:cs typeface="Georgia"/>
                <a:sym typeface="Georgia"/>
              </a:rPr>
              <a:t>Future iteration:</a:t>
            </a:r>
            <a:endParaRPr sz="1600" b="1" dirty="0">
              <a:solidFill>
                <a:schemeClr val="dk1"/>
              </a:solidFill>
              <a:latin typeface="Georgia"/>
              <a:ea typeface="Georgia"/>
              <a:cs typeface="Georgia"/>
              <a:sym typeface="Georgia"/>
            </a:endParaRPr>
          </a:p>
          <a:p>
            <a:pPr marL="457200" marR="0" lvl="0" indent="-311150" algn="l" rtl="0">
              <a:lnSpc>
                <a:spcPct val="115000"/>
              </a:lnSpc>
              <a:spcBef>
                <a:spcPts val="1200"/>
              </a:spcBef>
              <a:spcAft>
                <a:spcPts val="0"/>
              </a:spcAft>
              <a:buClr>
                <a:schemeClr val="dk1"/>
              </a:buClr>
              <a:buSzPts val="1300"/>
              <a:buFont typeface="Georgia"/>
              <a:buAutoNum type="arabicPeriod"/>
            </a:pPr>
            <a:r>
              <a:rPr lang="en" sz="1300" b="1" dirty="0">
                <a:solidFill>
                  <a:schemeClr val="dk1"/>
                </a:solidFill>
                <a:latin typeface="Georgia"/>
                <a:ea typeface="Georgia"/>
                <a:cs typeface="Georgia"/>
                <a:sym typeface="Georgia"/>
              </a:rPr>
              <a:t>Expand the “Visitor Help” tab</a:t>
            </a:r>
            <a:r>
              <a:rPr lang="en" sz="1300" dirty="0">
                <a:solidFill>
                  <a:schemeClr val="dk1"/>
                </a:solidFill>
                <a:latin typeface="Georgia"/>
                <a:ea typeface="Georgia"/>
                <a:cs typeface="Georgia"/>
                <a:sym typeface="Georgia"/>
              </a:rPr>
              <a:t> by adding more practical functions, such as transportation tips, emergency information, accessibility guidance, and FAQs.</a:t>
            </a:r>
            <a:endParaRPr sz="1300" dirty="0">
              <a:solidFill>
                <a:schemeClr val="dk1"/>
              </a:solidFill>
              <a:latin typeface="Georgia"/>
              <a:ea typeface="Georgia"/>
              <a:cs typeface="Georgia"/>
              <a:sym typeface="Georgia"/>
            </a:endParaRPr>
          </a:p>
          <a:p>
            <a:pPr marL="457200" marR="0" lvl="0" indent="-311150" algn="l" rtl="0">
              <a:lnSpc>
                <a:spcPct val="115000"/>
              </a:lnSpc>
              <a:spcBef>
                <a:spcPts val="0"/>
              </a:spcBef>
              <a:spcAft>
                <a:spcPts val="0"/>
              </a:spcAft>
              <a:buClr>
                <a:schemeClr val="dk1"/>
              </a:buClr>
              <a:buSzPts val="1300"/>
              <a:buFont typeface="Georgia"/>
              <a:buAutoNum type="arabicPeriod"/>
            </a:pPr>
            <a:r>
              <a:rPr lang="en" sz="1300" b="1" dirty="0">
                <a:solidFill>
                  <a:schemeClr val="dk1"/>
                </a:solidFill>
                <a:latin typeface="Georgia"/>
                <a:ea typeface="Georgia"/>
                <a:cs typeface="Georgia"/>
                <a:sym typeface="Georgia"/>
              </a:rPr>
              <a:t>Expand the interactive map</a:t>
            </a:r>
            <a:r>
              <a:rPr lang="en" sz="1300" dirty="0">
                <a:solidFill>
                  <a:schemeClr val="dk1"/>
                </a:solidFill>
                <a:latin typeface="Georgia"/>
                <a:ea typeface="Georgia"/>
                <a:cs typeface="Georgia"/>
                <a:sym typeface="Georgia"/>
              </a:rPr>
              <a:t> by including more attractions, neighborhoods, food spots, and souvenir shops.</a:t>
            </a:r>
            <a:endParaRPr sz="1300" dirty="0">
              <a:latin typeface="Georgia"/>
              <a:ea typeface="Georgia"/>
              <a:cs typeface="Georgia"/>
              <a:sym typeface="Georgia"/>
            </a:endParaRPr>
          </a:p>
          <a:p>
            <a:pPr marL="457200" marR="0" lvl="0" indent="-311150" algn="l" rtl="0">
              <a:lnSpc>
                <a:spcPct val="115000"/>
              </a:lnSpc>
              <a:spcBef>
                <a:spcPts val="0"/>
              </a:spcBef>
              <a:spcAft>
                <a:spcPts val="0"/>
              </a:spcAft>
              <a:buClr>
                <a:schemeClr val="dk1"/>
              </a:buClr>
              <a:buSzPts val="1300"/>
              <a:buFont typeface="Georgia"/>
              <a:buAutoNum type="arabicPeriod"/>
            </a:pPr>
            <a:r>
              <a:rPr lang="en" sz="1300" b="1" dirty="0">
                <a:latin typeface="Georgia"/>
                <a:ea typeface="Georgia"/>
                <a:cs typeface="Georgia"/>
                <a:sym typeface="Georgia"/>
              </a:rPr>
              <a:t>Conduct user testing with parents and family members attending Harvard Commencement</a:t>
            </a:r>
            <a:r>
              <a:rPr lang="en" sz="1300" dirty="0">
                <a:latin typeface="Georgia"/>
                <a:ea typeface="Georgia"/>
                <a:cs typeface="Georgia"/>
                <a:sym typeface="Georgia"/>
              </a:rPr>
              <a:t> this month to collect feedback and improve the website based on real visitor needs.</a:t>
            </a:r>
            <a:endParaRPr sz="1300" dirty="0">
              <a:latin typeface="Georgia"/>
              <a:ea typeface="Georgia"/>
              <a:cs typeface="Georgia"/>
              <a:sym typeface="Georgia"/>
            </a:endParaRPr>
          </a:p>
          <a:p>
            <a:pPr marL="0" marR="0" lvl="0" indent="0" algn="l" rtl="0">
              <a:lnSpc>
                <a:spcPct val="115000"/>
              </a:lnSpc>
              <a:spcBef>
                <a:spcPts val="1200"/>
              </a:spcBef>
              <a:spcAft>
                <a:spcPts val="0"/>
              </a:spcAft>
              <a:buNone/>
            </a:pPr>
            <a:endParaRPr sz="1300" dirty="0">
              <a:latin typeface="Georgia"/>
              <a:ea typeface="Georgia"/>
              <a:cs typeface="Georgia"/>
              <a:sym typeface="Georgia"/>
            </a:endParaRPr>
          </a:p>
          <a:p>
            <a:pPr marL="342900" marR="0" lvl="0" indent="0" algn="l" rtl="0">
              <a:lnSpc>
                <a:spcPct val="115000"/>
              </a:lnSpc>
              <a:spcBef>
                <a:spcPts val="1200"/>
              </a:spcBef>
              <a:spcAft>
                <a:spcPts val="0"/>
              </a:spcAft>
              <a:buNone/>
            </a:pPr>
            <a:endParaRPr sz="1300" dirty="0">
              <a:solidFill>
                <a:schemeClr val="dk1"/>
              </a:solidFill>
              <a:latin typeface="Georgia"/>
              <a:ea typeface="Georgia"/>
              <a:cs typeface="Georgia"/>
              <a:sym typeface="Georgia"/>
            </a:endParaRPr>
          </a:p>
          <a:p>
            <a:pPr marL="0" marR="0" lvl="0" indent="0" algn="l" rtl="0">
              <a:lnSpc>
                <a:spcPct val="115000"/>
              </a:lnSpc>
              <a:spcBef>
                <a:spcPts val="1200"/>
              </a:spcBef>
              <a:spcAft>
                <a:spcPts val="1200"/>
              </a:spcAft>
              <a:buNone/>
            </a:pPr>
            <a:endParaRPr sz="800" dirty="0">
              <a:solidFill>
                <a:schemeClr val="dk1"/>
              </a:solidFill>
              <a:latin typeface="Georgia"/>
              <a:ea typeface="Georgia"/>
              <a:cs typeface="Georgia"/>
              <a:sym typeface="Georgi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CCCC"/>
        </a:solidFill>
        <a:effectLst/>
      </p:bgPr>
    </p:bg>
    <p:spTree>
      <p:nvGrpSpPr>
        <p:cNvPr id="1" name="Shape 106"/>
        <p:cNvGrpSpPr/>
        <p:nvPr/>
      </p:nvGrpSpPr>
      <p:grpSpPr>
        <a:xfrm>
          <a:off x="0" y="0"/>
          <a:ext cx="0" cy="0"/>
          <a:chOff x="0" y="0"/>
          <a:chExt cx="0" cy="0"/>
        </a:xfrm>
      </p:grpSpPr>
      <p:sp>
        <p:nvSpPr>
          <p:cNvPr id="107" name="Google Shape;107;p20"/>
          <p:cNvSpPr txBox="1">
            <a:spLocks noGrp="1"/>
          </p:cNvSpPr>
          <p:nvPr>
            <p:ph type="title"/>
          </p:nvPr>
        </p:nvSpPr>
        <p:spPr>
          <a:xfrm>
            <a:off x="311700" y="333769"/>
            <a:ext cx="8520600" cy="4296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sz="2900">
                <a:latin typeface="Georgia"/>
                <a:ea typeface="Georgia"/>
                <a:cs typeface="Georgia"/>
                <a:sym typeface="Georgia"/>
              </a:rPr>
              <a:t>Reference</a:t>
            </a:r>
            <a:endParaRPr sz="2900">
              <a:latin typeface="Georgia"/>
              <a:ea typeface="Georgia"/>
              <a:cs typeface="Georgia"/>
              <a:sym typeface="Georgia"/>
            </a:endParaRPr>
          </a:p>
        </p:txBody>
      </p:sp>
      <p:sp>
        <p:nvSpPr>
          <p:cNvPr id="108" name="Google Shape;108;p20"/>
          <p:cNvSpPr txBox="1">
            <a:spLocks noGrp="1"/>
          </p:cNvSpPr>
          <p:nvPr>
            <p:ph type="body" idx="1"/>
          </p:nvPr>
        </p:nvSpPr>
        <p:spPr>
          <a:xfrm>
            <a:off x="311700" y="864356"/>
            <a:ext cx="8520600" cy="25623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Clr>
                <a:schemeClr val="dk1"/>
              </a:buClr>
              <a:buSzPts val="1100"/>
              <a:buFont typeface="Arial"/>
              <a:buNone/>
            </a:pPr>
            <a:r>
              <a:rPr lang="en" sz="1100">
                <a:solidFill>
                  <a:schemeClr val="dk1"/>
                </a:solidFill>
              </a:rPr>
              <a:t>Lave, J. (1991). Situating learning in communities of practice. In L. B. Resnick, J. M. Levine, &amp; S. D. Teasley (Eds.), </a:t>
            </a:r>
            <a:r>
              <a:rPr lang="en" sz="1100" i="1">
                <a:solidFill>
                  <a:schemeClr val="dk1"/>
                </a:solidFill>
              </a:rPr>
              <a:t>Perspectives on socially shared cognition</a:t>
            </a:r>
            <a:r>
              <a:rPr lang="en" sz="1100">
                <a:solidFill>
                  <a:schemeClr val="dk1"/>
                </a:solidFill>
              </a:rPr>
              <a:t> (pp. 63–82). American Psychological Association.</a:t>
            </a:r>
            <a:endParaRPr sz="1100">
              <a:solidFill>
                <a:schemeClr val="dk1"/>
              </a:solidFill>
            </a:endParaRPr>
          </a:p>
          <a:p>
            <a:pPr marL="0" lvl="0" indent="0" algn="l" rtl="0">
              <a:spcBef>
                <a:spcPts val="1200"/>
              </a:spcBef>
              <a:spcAft>
                <a:spcPts val="0"/>
              </a:spcAft>
              <a:buClr>
                <a:schemeClr val="dk1"/>
              </a:buClr>
              <a:buSzPts val="1100"/>
              <a:buFont typeface="Arial"/>
              <a:buNone/>
            </a:pPr>
            <a:r>
              <a:rPr lang="en" sz="1100">
                <a:solidFill>
                  <a:schemeClr val="dk1"/>
                </a:solidFill>
              </a:rPr>
              <a:t>Ertmer, P. A., &amp; Newby, T. J. (2013). Behaviorism, cognitivism, constructivism: Comparing critical features from an instructional design perspective. </a:t>
            </a:r>
            <a:r>
              <a:rPr lang="en" sz="1100" i="1">
                <a:solidFill>
                  <a:schemeClr val="dk1"/>
                </a:solidFill>
              </a:rPr>
              <a:t>Performance Improvement Quarterly, 26</a:t>
            </a:r>
            <a:r>
              <a:rPr lang="en" sz="1100">
                <a:solidFill>
                  <a:schemeClr val="dk1"/>
                </a:solidFill>
              </a:rPr>
              <a:t>(2), 43–71.</a:t>
            </a:r>
            <a:r>
              <a:rPr lang="en" sz="1100">
                <a:solidFill>
                  <a:schemeClr val="dk1"/>
                </a:solidFill>
                <a:uFill>
                  <a:noFill/>
                </a:uFill>
                <a:hlinkClick r:id="rId3">
                  <a:extLst>
                    <a:ext uri="{A12FA001-AC4F-418D-AE19-62706E023703}">
                      <ahyp:hlinkClr xmlns:ahyp="http://schemas.microsoft.com/office/drawing/2018/hyperlinkcolor" val="tx"/>
                    </a:ext>
                  </a:extLst>
                </a:hlinkClick>
              </a:rPr>
              <a:t> </a:t>
            </a:r>
            <a:r>
              <a:rPr lang="en" sz="1100" u="sng">
                <a:solidFill>
                  <a:schemeClr val="hlink"/>
                </a:solidFill>
                <a:hlinkClick r:id="rId3"/>
              </a:rPr>
              <a:t>https://doi.org/10.1002/piq.21143</a:t>
            </a:r>
            <a:endParaRPr sz="1100" u="sng">
              <a:solidFill>
                <a:schemeClr val="hlink"/>
              </a:solidFill>
            </a:endParaRPr>
          </a:p>
          <a:p>
            <a:pPr marL="0" lvl="0" indent="0" algn="l" rtl="0">
              <a:spcBef>
                <a:spcPts val="1200"/>
              </a:spcBef>
              <a:spcAft>
                <a:spcPts val="0"/>
              </a:spcAft>
              <a:buClr>
                <a:schemeClr val="dk1"/>
              </a:buClr>
              <a:buSzPts val="1100"/>
              <a:buFont typeface="Arial"/>
              <a:buNone/>
            </a:pPr>
            <a:r>
              <a:rPr lang="en" sz="1100">
                <a:solidFill>
                  <a:schemeClr val="dk1"/>
                </a:solidFill>
              </a:rPr>
              <a:t>Gronseth, S. L., Michela, E., &amp; Ugwu, L. O. (n.d.). </a:t>
            </a:r>
            <a:r>
              <a:rPr lang="en" sz="1100" i="1">
                <a:solidFill>
                  <a:schemeClr val="dk1"/>
                </a:solidFill>
              </a:rPr>
              <a:t>Designing for diverse learners</a:t>
            </a:r>
            <a:r>
              <a:rPr lang="en" sz="1100">
                <a:solidFill>
                  <a:schemeClr val="dk1"/>
                </a:solidFill>
              </a:rPr>
              <a:t>. LibreTexts.</a:t>
            </a:r>
            <a:endParaRPr sz="1100">
              <a:solidFill>
                <a:schemeClr val="dk1"/>
              </a:solidFill>
            </a:endParaRPr>
          </a:p>
          <a:p>
            <a:pPr marL="0" lvl="0" indent="0" algn="l" rtl="0">
              <a:spcBef>
                <a:spcPts val="1200"/>
              </a:spcBef>
              <a:spcAft>
                <a:spcPts val="0"/>
              </a:spcAft>
              <a:buClr>
                <a:schemeClr val="dk1"/>
              </a:buClr>
              <a:buSzPts val="1100"/>
              <a:buFont typeface="Arial"/>
              <a:buNone/>
            </a:pPr>
            <a:r>
              <a:rPr lang="en" sz="1100">
                <a:solidFill>
                  <a:schemeClr val="dk1"/>
                </a:solidFill>
              </a:rPr>
              <a:t>Schwartz, D. L., Tsang, J. M., &amp; Blair, K. P. (2016). </a:t>
            </a:r>
            <a:r>
              <a:rPr lang="en" sz="1100" i="1">
                <a:solidFill>
                  <a:schemeClr val="dk1"/>
                </a:solidFill>
              </a:rPr>
              <a:t>The ABCs of how we learn: 26 scientifically proven approaches, how they work, and when to use them</a:t>
            </a:r>
            <a:r>
              <a:rPr lang="en" sz="1100">
                <a:solidFill>
                  <a:schemeClr val="dk1"/>
                </a:solidFill>
              </a:rPr>
              <a:t>. W. W. Norton &amp; Company.</a:t>
            </a:r>
            <a:endParaRPr sz="1100">
              <a:solidFill>
                <a:schemeClr val="dk1"/>
              </a:solidFill>
            </a:endParaRPr>
          </a:p>
          <a:p>
            <a:pPr marL="0" lvl="0" indent="0" algn="l" rtl="0">
              <a:spcBef>
                <a:spcPts val="1200"/>
              </a:spcBef>
              <a:spcAft>
                <a:spcPts val="1200"/>
              </a:spcAft>
              <a:buNone/>
            </a:pPr>
            <a:r>
              <a:rPr lang="en" sz="1100">
                <a:solidFill>
                  <a:schemeClr val="dk1"/>
                </a:solidFill>
              </a:rPr>
              <a:t>Van Damme, D. (2026). </a:t>
            </a:r>
            <a:r>
              <a:rPr lang="en" sz="1100" i="1">
                <a:solidFill>
                  <a:schemeClr val="dk1"/>
                </a:solidFill>
              </a:rPr>
              <a:t>Technologies smarter, humans “dumber”? How technological advances improve and diminish human cognition and what this means for education</a:t>
            </a:r>
            <a:r>
              <a:rPr lang="en" sz="1100">
                <a:solidFill>
                  <a:schemeClr val="dk1"/>
                </a:solidFill>
              </a:rPr>
              <a:t>. Center for Curriculum Redesign.</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912</Words>
  <Application>Microsoft Macintosh PowerPoint</Application>
  <PresentationFormat>On-screen Show (16:9)</PresentationFormat>
  <Paragraphs>61</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Georgia</vt:lpstr>
      <vt:lpstr>Simple Light</vt:lpstr>
      <vt:lpstr>Motivation</vt:lpstr>
      <vt:lpstr>Related Work and Gap</vt:lpstr>
      <vt:lpstr>Design Process - Low-Fi Prototype (Codex)</vt:lpstr>
      <vt:lpstr>Design Process - Mid-Fi Prototype (Lovable)</vt:lpstr>
      <vt:lpstr>Final Design</vt:lpstr>
      <vt:lpstr>Conclusions &amp; Future Work</vt:lpstr>
      <vt:lpstr>Reference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Duan, Yuzhi</cp:lastModifiedBy>
  <cp:revision>1</cp:revision>
  <dcterms:modified xsi:type="dcterms:W3CDTF">2026-07-16T02:05:51Z</dcterms:modified>
</cp:coreProperties>
</file>