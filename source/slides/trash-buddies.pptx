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embeddedFontLst>
    <p:embeddedFont>
      <p:font typeface="Montserrat" pitchFamily="2" charset="77"/>
      <p:regular r:id="rId7"/>
      <p:bold r:id="rId8"/>
      <p:italic r:id="rId9"/>
      <p:boldItalic r:id="rId10"/>
    </p:embeddedFont>
    <p:embeddedFont>
      <p:font typeface="Poppins Medium" pitchFamily="2" charset="77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43"/>
  </p:normalViewPr>
  <p:slideViewPr>
    <p:cSldViewPr snapToGrid="0">
      <p:cViewPr varScale="1">
        <p:scale>
          <a:sx n="134" d="100"/>
          <a:sy n="134" d="100"/>
        </p:scale>
        <p:origin x="70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535ccc5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g3f535ccc5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535ccc555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3f535ccc555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535ccc555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f535ccc555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535ccc555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3f535ccc555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png"/><Relationship Id="rId5" Type="http://schemas.openxmlformats.org/officeDocument/2006/relationships/image" Target="../media/image10.jpg"/><Relationship Id="rId4" Type="http://schemas.openxmlformats.org/officeDocument/2006/relationships/image" Target="../media/image9.jpg"/><Relationship Id="rId9" Type="http://schemas.openxmlformats.org/officeDocument/2006/relationships/image" Target="../media/image1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F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496189" y="881065"/>
            <a:ext cx="4133205" cy="2088498"/>
          </a:xfrm>
          <a:custGeom>
            <a:avLst/>
            <a:gdLst/>
            <a:ahLst/>
            <a:cxnLst/>
            <a:rect l="l" t="t" r="r" b="b"/>
            <a:pathLst>
              <a:path w="1218336" h="615622" extrusionOk="0">
                <a:moveTo>
                  <a:pt x="22476" y="0"/>
                </a:moveTo>
                <a:lnTo>
                  <a:pt x="1195860" y="0"/>
                </a:lnTo>
                <a:cubicBezTo>
                  <a:pt x="1201821" y="0"/>
                  <a:pt x="1207538" y="2368"/>
                  <a:pt x="1211753" y="6583"/>
                </a:cubicBezTo>
                <a:cubicBezTo>
                  <a:pt x="1215968" y="10798"/>
                  <a:pt x="1218336" y="16515"/>
                  <a:pt x="1218336" y="22476"/>
                </a:cubicBezTo>
                <a:lnTo>
                  <a:pt x="1218336" y="593146"/>
                </a:lnTo>
                <a:cubicBezTo>
                  <a:pt x="1218336" y="605559"/>
                  <a:pt x="1208273" y="615622"/>
                  <a:pt x="1195860" y="615622"/>
                </a:cubicBezTo>
                <a:lnTo>
                  <a:pt x="22476" y="615622"/>
                </a:lnTo>
                <a:cubicBezTo>
                  <a:pt x="10063" y="615622"/>
                  <a:pt x="0" y="605559"/>
                  <a:pt x="0" y="593146"/>
                </a:cubicBezTo>
                <a:lnTo>
                  <a:pt x="0" y="22476"/>
                </a:lnTo>
                <a:cubicBezTo>
                  <a:pt x="0" y="10063"/>
                  <a:pt x="10063" y="0"/>
                  <a:pt x="22476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5590" b="-5590"/>
            </a:stretch>
          </a:blipFill>
          <a:ln w="38100" cap="rnd" cmpd="sng">
            <a:solidFill>
              <a:srgbClr val="77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/>
          <p:nvPr/>
        </p:nvSpPr>
        <p:spPr>
          <a:xfrm rot="5400000">
            <a:off x="650598" y="1743149"/>
            <a:ext cx="233045" cy="233046"/>
          </a:xfrm>
          <a:custGeom>
            <a:avLst/>
            <a:gdLst/>
            <a:ahLst/>
            <a:cxnLst/>
            <a:rect l="l" t="t" r="r" b="b"/>
            <a:pathLst>
              <a:path w="466091" h="466091" extrusionOk="0">
                <a:moveTo>
                  <a:pt x="0" y="0"/>
                </a:moveTo>
                <a:lnTo>
                  <a:pt x="466090" y="0"/>
                </a:lnTo>
                <a:lnTo>
                  <a:pt x="466090" y="466091"/>
                </a:lnTo>
                <a:lnTo>
                  <a:pt x="0" y="46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Google Shape;56;p13"/>
          <p:cNvSpPr/>
          <p:nvPr/>
        </p:nvSpPr>
        <p:spPr>
          <a:xfrm rot="5400000">
            <a:off x="650597" y="3446018"/>
            <a:ext cx="233046" cy="233046"/>
          </a:xfrm>
          <a:custGeom>
            <a:avLst/>
            <a:gdLst/>
            <a:ahLst/>
            <a:cxnLst/>
            <a:rect l="l" t="t" r="r" b="b"/>
            <a:pathLst>
              <a:path w="466091" h="466091" extrusionOk="0">
                <a:moveTo>
                  <a:pt x="0" y="0"/>
                </a:moveTo>
                <a:lnTo>
                  <a:pt x="466090" y="0"/>
                </a:lnTo>
                <a:lnTo>
                  <a:pt x="466090" y="466091"/>
                </a:lnTo>
                <a:lnTo>
                  <a:pt x="0" y="46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57" name="Google Shape;57;p13"/>
          <p:cNvGrpSpPr/>
          <p:nvPr/>
        </p:nvGrpSpPr>
        <p:grpSpPr>
          <a:xfrm>
            <a:off x="8923962" y="-136194"/>
            <a:ext cx="267232" cy="5353488"/>
            <a:chOff x="0" y="-38100"/>
            <a:chExt cx="140767" cy="2820000"/>
          </a:xfrm>
        </p:grpSpPr>
        <p:sp>
          <p:nvSpPr>
            <p:cNvPr id="58" name="Google Shape;58;p13"/>
            <p:cNvSpPr/>
            <p:nvPr/>
          </p:nvSpPr>
          <p:spPr>
            <a:xfrm>
              <a:off x="0" y="0"/>
              <a:ext cx="140767" cy="2781820"/>
            </a:xfrm>
            <a:custGeom>
              <a:avLst/>
              <a:gdLst/>
              <a:ahLst/>
              <a:cxnLst/>
              <a:rect l="l" t="t" r="r" b="b"/>
              <a:pathLst>
                <a:path w="140767" h="2781820" extrusionOk="0">
                  <a:moveTo>
                    <a:pt x="0" y="0"/>
                  </a:moveTo>
                  <a:lnTo>
                    <a:pt x="140767" y="0"/>
                  </a:lnTo>
                  <a:lnTo>
                    <a:pt x="140767" y="2781820"/>
                  </a:lnTo>
                  <a:lnTo>
                    <a:pt x="0" y="2781820"/>
                  </a:lnTo>
                  <a:close/>
                </a:path>
              </a:pathLst>
            </a:custGeom>
            <a:solidFill>
              <a:srgbClr val="379343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0" y="-38100"/>
              <a:ext cx="140700" cy="28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" name="Google Shape;60;p13"/>
          <p:cNvSpPr/>
          <p:nvPr/>
        </p:nvSpPr>
        <p:spPr>
          <a:xfrm>
            <a:off x="4828650" y="104422"/>
            <a:ext cx="666304" cy="157025"/>
          </a:xfrm>
          <a:custGeom>
            <a:avLst/>
            <a:gdLst/>
            <a:ahLst/>
            <a:cxnLst/>
            <a:rect l="l" t="t" r="r" b="b"/>
            <a:pathLst>
              <a:path w="1332607" h="314049" extrusionOk="0">
                <a:moveTo>
                  <a:pt x="0" y="0"/>
                </a:moveTo>
                <a:lnTo>
                  <a:pt x="1332607" y="0"/>
                </a:lnTo>
                <a:lnTo>
                  <a:pt x="1332607" y="314050"/>
                </a:lnTo>
                <a:lnTo>
                  <a:pt x="0" y="314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3221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Google Shape;61;p13"/>
          <p:cNvSpPr txBox="1"/>
          <p:nvPr/>
        </p:nvSpPr>
        <p:spPr>
          <a:xfrm>
            <a:off x="438899" y="173200"/>
            <a:ext cx="365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 i="0" u="none" strike="noStrike" cap="none">
                <a:solidFill>
                  <a:srgbClr val="2199C8"/>
                </a:solidFill>
                <a:latin typeface="Montserrat"/>
                <a:ea typeface="Montserrat"/>
                <a:cs typeface="Montserrat"/>
                <a:sym typeface="Montserrat"/>
              </a:rPr>
              <a:t>Trash Buddies</a:t>
            </a:r>
            <a:endParaRPr sz="7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38900" y="881075"/>
            <a:ext cx="4133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56325"/>
                </a:solidFill>
              </a:rPr>
              <a:t>Designed b</a:t>
            </a:r>
            <a:r>
              <a:rPr lang="en" sz="1600" b="0" i="0" u="none" strike="noStrike" cap="none">
                <a:solidFill>
                  <a:srgbClr val="E56325"/>
                </a:solidFill>
                <a:latin typeface="Arial"/>
                <a:ea typeface="Arial"/>
                <a:cs typeface="Arial"/>
                <a:sym typeface="Arial"/>
              </a:rPr>
              <a:t>y. </a:t>
            </a:r>
            <a:r>
              <a:rPr lang="en" sz="1600">
                <a:solidFill>
                  <a:srgbClr val="E56325"/>
                </a:solidFill>
              </a:rPr>
              <a:t> Yuzhi, </a:t>
            </a:r>
            <a:r>
              <a:rPr lang="en" sz="1600" b="0" i="0" u="none" strike="noStrike" cap="none">
                <a:solidFill>
                  <a:srgbClr val="E56325"/>
                </a:solidFill>
                <a:latin typeface="Arial"/>
                <a:ea typeface="Arial"/>
                <a:cs typeface="Arial"/>
                <a:sym typeface="Arial"/>
              </a:rPr>
              <a:t>Irene, Helen</a:t>
            </a:r>
            <a:endParaRPr sz="200"/>
          </a:p>
        </p:txBody>
      </p:sp>
      <p:sp>
        <p:nvSpPr>
          <p:cNvPr id="63" name="Google Shape;63;p13"/>
          <p:cNvSpPr txBox="1"/>
          <p:nvPr/>
        </p:nvSpPr>
        <p:spPr>
          <a:xfrm>
            <a:off x="1040521" y="2317742"/>
            <a:ext cx="2637600" cy="9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0" u="none" strike="noStrike" cap="non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Children feel like they are helping trash find friends and teaming up to clear levels, while practicing real sorting decisions.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837412" y="3788250"/>
            <a:ext cx="30438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0" marR="0" lvl="1" indent="-1270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200"/>
              <a:buFont typeface="Montserrat"/>
              <a:buChar char="•"/>
            </a:pPr>
            <a:r>
              <a:rPr lang="en" sz="1200" i="0" u="none" strike="noStrike" cap="non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Strengthen pattern recognition and coordination skills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254000" marR="0" lvl="1" indent="-1270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200"/>
              <a:buFont typeface="Montserrat"/>
              <a:buChar char="•"/>
            </a:pPr>
            <a:r>
              <a:rPr lang="en" sz="1200" i="0" u="none" strike="noStrike" cap="non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Build sustainability awareness through waste sorting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231F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040521" y="1653297"/>
            <a:ext cx="24807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0" u="none" strike="noStrike" cap="none">
                <a:solidFill>
                  <a:srgbClr val="379343"/>
                </a:solidFill>
                <a:latin typeface="Montserrat"/>
                <a:ea typeface="Montserrat"/>
                <a:cs typeface="Montserrat"/>
                <a:sym typeface="Montserrat"/>
              </a:rPr>
              <a:t>Learning Goals: Learn waste sorting in a fun way.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1040521" y="3462497"/>
            <a:ext cx="2031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0" u="none" strike="noStrike" cap="none">
                <a:solidFill>
                  <a:srgbClr val="379343"/>
                </a:solidFill>
                <a:latin typeface="Montserrat"/>
                <a:ea typeface="Montserrat"/>
                <a:cs typeface="Montserrat"/>
                <a:sym typeface="Montserrat"/>
              </a:rPr>
              <a:t>Designed to: 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3"/>
          <p:cNvSpPr/>
          <p:nvPr/>
        </p:nvSpPr>
        <p:spPr>
          <a:xfrm rot="5400000">
            <a:off x="4496189" y="3406030"/>
            <a:ext cx="233046" cy="233046"/>
          </a:xfrm>
          <a:custGeom>
            <a:avLst/>
            <a:gdLst/>
            <a:ahLst/>
            <a:cxnLst/>
            <a:rect l="l" t="t" r="r" b="b"/>
            <a:pathLst>
              <a:path w="466091" h="466091" extrusionOk="0">
                <a:moveTo>
                  <a:pt x="0" y="0"/>
                </a:moveTo>
                <a:lnTo>
                  <a:pt x="466091" y="0"/>
                </a:lnTo>
                <a:lnTo>
                  <a:pt x="466091" y="466091"/>
                </a:lnTo>
                <a:lnTo>
                  <a:pt x="0" y="46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Google Shape;68;p13"/>
          <p:cNvSpPr txBox="1"/>
          <p:nvPr/>
        </p:nvSpPr>
        <p:spPr>
          <a:xfrm>
            <a:off x="4991638" y="3378581"/>
            <a:ext cx="20313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0" u="none" strike="noStrike" cap="none">
                <a:solidFill>
                  <a:srgbClr val="379343"/>
                </a:solidFill>
                <a:latin typeface="Montserrat"/>
                <a:ea typeface="Montserrat"/>
                <a:cs typeface="Montserrat"/>
                <a:sym typeface="Montserrat"/>
              </a:rPr>
              <a:t>Target Audience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4688522" y="3707829"/>
            <a:ext cx="32805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0" marR="0" lvl="1" indent="-1270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200"/>
              <a:buFont typeface="Montserrat"/>
              <a:buChar char="•"/>
            </a:pPr>
            <a:r>
              <a:rPr lang="en" sz="1200" i="0" u="none" strike="noStrike" cap="non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Age ~5: focus on correct sorting + trial “tossing” mechanics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254000" marR="0" lvl="1" indent="-1270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200"/>
              <a:buFont typeface="Montserrat"/>
              <a:buChar char="•"/>
            </a:pPr>
            <a:r>
              <a:rPr lang="en" sz="1200" i="0" u="none" strike="noStrike" cap="non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Age ~9: deepen understanding of ecosystem sustainability and how waste impacts the environment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671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231F2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F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4"/>
          <p:cNvGrpSpPr/>
          <p:nvPr/>
        </p:nvGrpSpPr>
        <p:grpSpPr>
          <a:xfrm>
            <a:off x="4028405" y="939857"/>
            <a:ext cx="221407" cy="221407"/>
            <a:chOff x="0" y="0"/>
            <a:chExt cx="812800" cy="812800"/>
          </a:xfrm>
        </p:grpSpPr>
        <p:sp>
          <p:nvSpPr>
            <p:cNvPr id="75" name="Google Shape;75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199C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Google Shape;76;p14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" name="Google Shape;77;p14"/>
          <p:cNvGrpSpPr/>
          <p:nvPr/>
        </p:nvGrpSpPr>
        <p:grpSpPr>
          <a:xfrm>
            <a:off x="4080130" y="2044646"/>
            <a:ext cx="221407" cy="221407"/>
            <a:chOff x="0" y="0"/>
            <a:chExt cx="812800" cy="812800"/>
          </a:xfrm>
        </p:grpSpPr>
        <p:sp>
          <p:nvSpPr>
            <p:cNvPr id="78" name="Google Shape;78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199C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Google Shape;79;p14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" name="Google Shape;80;p14"/>
          <p:cNvGrpSpPr/>
          <p:nvPr/>
        </p:nvGrpSpPr>
        <p:grpSpPr>
          <a:xfrm>
            <a:off x="8923962" y="-136194"/>
            <a:ext cx="267232" cy="5353488"/>
            <a:chOff x="0" y="-38100"/>
            <a:chExt cx="140767" cy="2820000"/>
          </a:xfrm>
        </p:grpSpPr>
        <p:sp>
          <p:nvSpPr>
            <p:cNvPr id="81" name="Google Shape;81;p14"/>
            <p:cNvSpPr/>
            <p:nvPr/>
          </p:nvSpPr>
          <p:spPr>
            <a:xfrm>
              <a:off x="0" y="0"/>
              <a:ext cx="140767" cy="2781820"/>
            </a:xfrm>
            <a:custGeom>
              <a:avLst/>
              <a:gdLst/>
              <a:ahLst/>
              <a:cxnLst/>
              <a:rect l="l" t="t" r="r" b="b"/>
              <a:pathLst>
                <a:path w="140767" h="2781820" extrusionOk="0">
                  <a:moveTo>
                    <a:pt x="0" y="0"/>
                  </a:moveTo>
                  <a:lnTo>
                    <a:pt x="140767" y="0"/>
                  </a:lnTo>
                  <a:lnTo>
                    <a:pt x="140767" y="2781820"/>
                  </a:lnTo>
                  <a:lnTo>
                    <a:pt x="0" y="2781820"/>
                  </a:lnTo>
                  <a:close/>
                </a:path>
              </a:pathLst>
            </a:custGeom>
            <a:solidFill>
              <a:srgbClr val="379343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Google Shape;82;p14"/>
            <p:cNvSpPr txBox="1"/>
            <p:nvPr/>
          </p:nvSpPr>
          <p:spPr>
            <a:xfrm>
              <a:off x="0" y="-38100"/>
              <a:ext cx="140700" cy="28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14"/>
          <p:cNvSpPr/>
          <p:nvPr/>
        </p:nvSpPr>
        <p:spPr>
          <a:xfrm>
            <a:off x="1922725" y="1441675"/>
            <a:ext cx="1562125" cy="1534026"/>
          </a:xfrm>
          <a:custGeom>
            <a:avLst/>
            <a:gdLst/>
            <a:ahLst/>
            <a:cxnLst/>
            <a:rect l="l" t="t" r="r" b="b"/>
            <a:pathLst>
              <a:path w="2777112" h="2691274" extrusionOk="0">
                <a:moveTo>
                  <a:pt x="0" y="0"/>
                </a:moveTo>
                <a:lnTo>
                  <a:pt x="2777112" y="0"/>
                </a:lnTo>
                <a:lnTo>
                  <a:pt x="2777112" y="2691273"/>
                </a:lnTo>
                <a:lnTo>
                  <a:pt x="0" y="2691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4" name="Google Shape;84;p14"/>
          <p:cNvSpPr txBox="1"/>
          <p:nvPr/>
        </p:nvSpPr>
        <p:spPr>
          <a:xfrm>
            <a:off x="4028405" y="136666"/>
            <a:ext cx="2971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0" u="none" strike="noStrike" cap="none" dirty="0">
                <a:solidFill>
                  <a:srgbClr val="2199C8"/>
                </a:solidFill>
                <a:latin typeface="Montserrat"/>
                <a:ea typeface="Montserrat"/>
                <a:cs typeface="Montserrat"/>
                <a:sym typeface="Montserrat"/>
              </a:rPr>
              <a:t>Design Process: Iterations </a:t>
            </a:r>
            <a:endParaRPr sz="7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5602329" y="504825"/>
            <a:ext cx="2794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i="0" u="none" strike="noStrike" cap="none">
                <a:solidFill>
                  <a:srgbClr val="E56325"/>
                </a:solidFill>
                <a:latin typeface="Montserrat"/>
                <a:ea typeface="Montserrat"/>
                <a:cs typeface="Montserrat"/>
                <a:sym typeface="Montserrat"/>
              </a:rPr>
              <a:t>+Struggles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6" name="Google Shape;86;p14"/>
          <p:cNvGrpSpPr/>
          <p:nvPr/>
        </p:nvGrpSpPr>
        <p:grpSpPr>
          <a:xfrm>
            <a:off x="4080118" y="2974715"/>
            <a:ext cx="221407" cy="221407"/>
            <a:chOff x="0" y="0"/>
            <a:chExt cx="812800" cy="812800"/>
          </a:xfrm>
        </p:grpSpPr>
        <p:sp>
          <p:nvSpPr>
            <p:cNvPr id="87" name="Google Shape;87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199C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Google Shape;88;p14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" name="Google Shape;89;p14"/>
          <p:cNvGrpSpPr/>
          <p:nvPr/>
        </p:nvGrpSpPr>
        <p:grpSpPr>
          <a:xfrm>
            <a:off x="4080130" y="3724489"/>
            <a:ext cx="221407" cy="221407"/>
            <a:chOff x="0" y="0"/>
            <a:chExt cx="812800" cy="812800"/>
          </a:xfrm>
        </p:grpSpPr>
        <p:sp>
          <p:nvSpPr>
            <p:cNvPr id="90" name="Google Shape;90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199C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Google Shape;91;p14"/>
            <p:cNvSpPr txBox="1"/>
            <p:nvPr/>
          </p:nvSpPr>
          <p:spPr>
            <a:xfrm>
              <a:off x="127000" y="79375"/>
              <a:ext cx="558900" cy="60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4"/>
          <p:cNvSpPr/>
          <p:nvPr/>
        </p:nvSpPr>
        <p:spPr>
          <a:xfrm>
            <a:off x="0" y="1303550"/>
            <a:ext cx="1559994" cy="2306830"/>
          </a:xfrm>
          <a:custGeom>
            <a:avLst/>
            <a:gdLst/>
            <a:ahLst/>
            <a:cxnLst/>
            <a:rect l="l" t="t" r="r" b="b"/>
            <a:pathLst>
              <a:path w="3119988" h="4613660" extrusionOk="0">
                <a:moveTo>
                  <a:pt x="0" y="0"/>
                </a:moveTo>
                <a:lnTo>
                  <a:pt x="3119988" y="0"/>
                </a:lnTo>
                <a:lnTo>
                  <a:pt x="3119988" y="4613660"/>
                </a:lnTo>
                <a:lnTo>
                  <a:pt x="0" y="4613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3" name="Google Shape;93;p14"/>
          <p:cNvSpPr/>
          <p:nvPr/>
        </p:nvSpPr>
        <p:spPr>
          <a:xfrm>
            <a:off x="1205457" y="51223"/>
            <a:ext cx="2105825" cy="1252328"/>
          </a:xfrm>
          <a:custGeom>
            <a:avLst/>
            <a:gdLst/>
            <a:ahLst/>
            <a:cxnLst/>
            <a:rect l="l" t="t" r="r" b="b"/>
            <a:pathLst>
              <a:path w="4211650" h="2504655" extrusionOk="0">
                <a:moveTo>
                  <a:pt x="0" y="0"/>
                </a:moveTo>
                <a:lnTo>
                  <a:pt x="4211650" y="0"/>
                </a:lnTo>
                <a:lnTo>
                  <a:pt x="4211650" y="2504655"/>
                </a:lnTo>
                <a:lnTo>
                  <a:pt x="0" y="25046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4" name="Google Shape;94;p14"/>
          <p:cNvSpPr/>
          <p:nvPr/>
        </p:nvSpPr>
        <p:spPr>
          <a:xfrm>
            <a:off x="1559994" y="3152653"/>
            <a:ext cx="2325432" cy="1773142"/>
          </a:xfrm>
          <a:custGeom>
            <a:avLst/>
            <a:gdLst/>
            <a:ahLst/>
            <a:cxnLst/>
            <a:rect l="l" t="t" r="r" b="b"/>
            <a:pathLst>
              <a:path w="4650865" h="3546285" extrusionOk="0">
                <a:moveTo>
                  <a:pt x="0" y="0"/>
                </a:moveTo>
                <a:lnTo>
                  <a:pt x="4650865" y="0"/>
                </a:lnTo>
                <a:lnTo>
                  <a:pt x="4650865" y="3546285"/>
                </a:lnTo>
                <a:lnTo>
                  <a:pt x="0" y="35462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" name="Google Shape;95;p14"/>
          <p:cNvSpPr txBox="1"/>
          <p:nvPr/>
        </p:nvSpPr>
        <p:spPr>
          <a:xfrm>
            <a:off x="4552764" y="939844"/>
            <a:ext cx="43098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0" u="none" strike="noStrike" cap="none">
                <a:solidFill>
                  <a:srgbClr val="379343"/>
                </a:solidFill>
                <a:latin typeface="Montserrat"/>
                <a:ea typeface="Montserrat"/>
                <a:cs typeface="Montserrat"/>
                <a:sym typeface="Montserrat"/>
              </a:rPr>
              <a:t>Inspiration: Transforming a jigsaw puzzle into an educational “mission game.”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4496227" y="2077391"/>
            <a:ext cx="18546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0" u="none" strike="noStrike" cap="none">
                <a:solidFill>
                  <a:srgbClr val="379343"/>
                </a:solidFill>
                <a:latin typeface="Arial"/>
                <a:ea typeface="Arial"/>
                <a:cs typeface="Arial"/>
                <a:sym typeface="Arial"/>
              </a:rPr>
              <a:t>Prototype structure:</a:t>
            </a:r>
            <a:endParaRPr sz="700"/>
          </a:p>
        </p:txBody>
      </p:sp>
      <p:sp>
        <p:nvSpPr>
          <p:cNvPr id="97" name="Google Shape;97;p14"/>
          <p:cNvSpPr txBox="1"/>
          <p:nvPr/>
        </p:nvSpPr>
        <p:spPr>
          <a:xfrm>
            <a:off x="4496189" y="1441678"/>
            <a:ext cx="4309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marR="0" lvl="1" indent="-1206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100"/>
              <a:buFont typeface="Montserrat"/>
              <a:buChar char="•"/>
            </a:pPr>
            <a:r>
              <a:rPr lang="en" sz="1100" i="0" u="none" strike="noStrike" cap="non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Core design choice: No big labels like “Plastic / Organic / Recycle.”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228600" marR="0" lvl="1" indent="-1206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100"/>
              <a:buFont typeface="Montserrat"/>
              <a:buChar char="•"/>
            </a:pPr>
            <a:r>
              <a:rPr lang="en" sz="1100" i="0" u="none" strike="noStrike" cap="non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Each item has a fun hint so kids must think and infer.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231F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4496189" y="2307488"/>
            <a:ext cx="4309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marR="0" lvl="1" indent="-1206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100"/>
              <a:buFont typeface="Montserrat"/>
              <a:buChar char="•"/>
            </a:pPr>
            <a:r>
              <a:rPr lang="en" sz="1100" i="0" u="none" strike="noStrike" cap="non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24 wooden puzzle pieces total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228600" marR="0" lvl="1" indent="-1206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100"/>
              <a:buFont typeface="Montserrat"/>
              <a:buChar char="•"/>
            </a:pPr>
            <a:r>
              <a:rPr lang="en" sz="1100" i="0" u="none" strike="noStrike" cap="non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4 trash cans × 6 items </a:t>
            </a:r>
            <a:r>
              <a:rPr lang="en" sz="1200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(Recyclables / Composable / General / Hazardous).</a:t>
            </a:r>
            <a:endParaRPr sz="1100" b="0" i="0" u="none" strike="noStrike" cap="none">
              <a:solidFill>
                <a:srgbClr val="231F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496189" y="2985384"/>
            <a:ext cx="18546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0" u="none" strike="noStrike" cap="none">
                <a:solidFill>
                  <a:srgbClr val="379343"/>
                </a:solidFill>
                <a:latin typeface="Montserrat"/>
                <a:ea typeface="Montserrat"/>
                <a:cs typeface="Montserrat"/>
                <a:sym typeface="Montserrat"/>
              </a:rPr>
              <a:t>Iteration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4496214" y="3729834"/>
            <a:ext cx="18546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i="0" u="none" strike="noStrike" cap="none">
                <a:solidFill>
                  <a:srgbClr val="379343"/>
                </a:solidFill>
                <a:latin typeface="Montserrat"/>
                <a:ea typeface="Montserrat"/>
                <a:cs typeface="Montserrat"/>
                <a:sym typeface="Montserrat"/>
              </a:rPr>
              <a:t>Struggle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4496225" y="3173313"/>
            <a:ext cx="44229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marR="0" lvl="1" indent="-1206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100"/>
              <a:buFont typeface="Montserrat"/>
              <a:buChar char="•"/>
            </a:pPr>
            <a:r>
              <a:rPr lang="en" sz="1100" i="0" u="none" strike="noStrike" cap="non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Used adhesive magnet sheets on trash cans + magnetic trash pieces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228600" marR="0" lvl="1" indent="-1206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100"/>
              <a:buFont typeface="Montserrat"/>
              <a:buChar char="•"/>
            </a:pPr>
            <a:r>
              <a:rPr lang="en" sz="1100" i="0" u="none" strike="noStrike" cap="non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Kids can “feed” trash into the bin’s mouth (easy + satisfying)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231F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590725" y="4039150"/>
            <a:ext cx="4233900" cy="9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marR="0" lvl="1" indent="-1206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100"/>
              <a:buFont typeface="Montserrat"/>
              <a:buAutoNum type="arabicPeriod"/>
            </a:pPr>
            <a:r>
              <a:rPr lang="en" sz="1100" i="0" u="none" strike="noStrike" cap="non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In the cardboard laser-cut test, we mistook the image border, so the outline got cut twice and looked like an unwanted frame.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228600" marR="0" lvl="1" indent="-1206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100"/>
              <a:buFont typeface="Montserrat"/>
              <a:buAutoNum type="arabicPeriod"/>
            </a:pPr>
            <a:r>
              <a:rPr lang="en" sz="1100" i="0" u="none" strike="noStrike" cap="non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The magnet sheets only stick well at certain angles, so placement needed careful alignment.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/>
          <p:nvPr/>
        </p:nvSpPr>
        <p:spPr>
          <a:xfrm>
            <a:off x="4488180" y="603622"/>
            <a:ext cx="1195621" cy="2125548"/>
          </a:xfrm>
          <a:custGeom>
            <a:avLst/>
            <a:gdLst/>
            <a:ahLst/>
            <a:cxnLst/>
            <a:rect l="l" t="t" r="r" b="b"/>
            <a:pathLst>
              <a:path w="2391241" h="4251095" extrusionOk="0">
                <a:moveTo>
                  <a:pt x="0" y="0"/>
                </a:moveTo>
                <a:lnTo>
                  <a:pt x="2391241" y="0"/>
                </a:lnTo>
                <a:lnTo>
                  <a:pt x="2391241" y="4251095"/>
                </a:lnTo>
                <a:lnTo>
                  <a:pt x="0" y="4251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Google Shape;108;p15"/>
          <p:cNvSpPr/>
          <p:nvPr/>
        </p:nvSpPr>
        <p:spPr>
          <a:xfrm>
            <a:off x="6017038" y="546247"/>
            <a:ext cx="1195620" cy="2125548"/>
          </a:xfrm>
          <a:custGeom>
            <a:avLst/>
            <a:gdLst/>
            <a:ahLst/>
            <a:cxnLst/>
            <a:rect l="l" t="t" r="r" b="b"/>
            <a:pathLst>
              <a:path w="2391241" h="4251095" extrusionOk="0">
                <a:moveTo>
                  <a:pt x="0" y="0"/>
                </a:moveTo>
                <a:lnTo>
                  <a:pt x="2391241" y="0"/>
                </a:lnTo>
                <a:lnTo>
                  <a:pt x="2391241" y="4251095"/>
                </a:lnTo>
                <a:lnTo>
                  <a:pt x="0" y="4251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Google Shape;109;p15"/>
          <p:cNvSpPr/>
          <p:nvPr/>
        </p:nvSpPr>
        <p:spPr>
          <a:xfrm>
            <a:off x="7301611" y="546247"/>
            <a:ext cx="1500579" cy="2125548"/>
          </a:xfrm>
          <a:custGeom>
            <a:avLst/>
            <a:gdLst/>
            <a:ahLst/>
            <a:cxnLst/>
            <a:rect l="l" t="t" r="r" b="b"/>
            <a:pathLst>
              <a:path w="3001158" h="4251095" extrusionOk="0">
                <a:moveTo>
                  <a:pt x="0" y="0"/>
                </a:moveTo>
                <a:lnTo>
                  <a:pt x="3001158" y="0"/>
                </a:lnTo>
                <a:lnTo>
                  <a:pt x="3001158" y="4251095"/>
                </a:lnTo>
                <a:lnTo>
                  <a:pt x="0" y="4251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2900" b="-1260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Google Shape;110;p15"/>
          <p:cNvSpPr txBox="1"/>
          <p:nvPr/>
        </p:nvSpPr>
        <p:spPr>
          <a:xfrm>
            <a:off x="150475" y="1326550"/>
            <a:ext cx="4204200" cy="30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0" marR="0" lvl="1" indent="-1270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200"/>
              <a:buFont typeface="Montserrat"/>
              <a:buChar char="•"/>
            </a:pPr>
            <a:r>
              <a:rPr lang="en" sz="1200" i="0" u="none" strike="noStrike" cap="non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Step 1: Kids pick a “trash buddy” piece and read the hint.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254000" marR="0" lvl="1" indent="-1270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200"/>
              <a:buFont typeface="Montserrat"/>
              <a:buChar char="•"/>
            </a:pPr>
            <a:r>
              <a:rPr lang="en" sz="1200" i="0" u="none" strike="noStrike" cap="non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Step 2: They decide which trash can board it belongs to (Recyclables / Compos</a:t>
            </a:r>
            <a:r>
              <a:rPr lang="en" sz="1200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able</a:t>
            </a:r>
            <a:r>
              <a:rPr lang="en" sz="1200" i="0" u="none" strike="noStrike" cap="non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 / </a:t>
            </a:r>
            <a:r>
              <a:rPr lang="en" sz="1200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General</a:t>
            </a:r>
            <a:r>
              <a:rPr lang="en" sz="1200" i="0" u="none" strike="noStrike" cap="non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 / </a:t>
            </a:r>
            <a:r>
              <a:rPr lang="en" sz="1200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Hazardous</a:t>
            </a:r>
            <a:r>
              <a:rPr lang="en" sz="1200" i="0" u="none" strike="noStrike" cap="non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254000" marR="0" lvl="1" indent="-1270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200"/>
              <a:buFont typeface="Montserrat"/>
              <a:buChar char="•"/>
            </a:pPr>
            <a:r>
              <a:rPr lang="en" sz="1200" i="0" u="none" strike="noStrike" cap="non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Step 3: They place the piece onto the correct trash can board.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254000" marR="0" lvl="1" indent="-1270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200"/>
              <a:buFont typeface="Montserrat"/>
              <a:buChar char="•"/>
            </a:pPr>
            <a:r>
              <a:rPr lang="en" sz="1200" i="0" u="none" strike="noStrike" cap="non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Step 4: They “feed” the trash buddy into the bin’s mouth area (magnetic stick-in), and fill the board.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254000" marR="0" lvl="1" indent="-1270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200"/>
              <a:buFont typeface="Montserrat"/>
              <a:buChar char="•"/>
            </a:pPr>
            <a:r>
              <a:rPr lang="en" sz="1200" i="0" u="none" strike="noStrike" cap="non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Win: Clear the level when they correctly fills all four trash can boards.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231F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" name="Google Shape;111;p15"/>
          <p:cNvGrpSpPr/>
          <p:nvPr/>
        </p:nvGrpSpPr>
        <p:grpSpPr>
          <a:xfrm>
            <a:off x="8923962" y="-136194"/>
            <a:ext cx="267232" cy="5353488"/>
            <a:chOff x="0" y="-38100"/>
            <a:chExt cx="140767" cy="2820000"/>
          </a:xfrm>
        </p:grpSpPr>
        <p:sp>
          <p:nvSpPr>
            <p:cNvPr id="112" name="Google Shape;112;p15"/>
            <p:cNvSpPr/>
            <p:nvPr/>
          </p:nvSpPr>
          <p:spPr>
            <a:xfrm>
              <a:off x="0" y="0"/>
              <a:ext cx="140767" cy="2781820"/>
            </a:xfrm>
            <a:custGeom>
              <a:avLst/>
              <a:gdLst/>
              <a:ahLst/>
              <a:cxnLst/>
              <a:rect l="l" t="t" r="r" b="b"/>
              <a:pathLst>
                <a:path w="140767" h="2781820" extrusionOk="0">
                  <a:moveTo>
                    <a:pt x="0" y="0"/>
                  </a:moveTo>
                  <a:lnTo>
                    <a:pt x="140767" y="0"/>
                  </a:lnTo>
                  <a:lnTo>
                    <a:pt x="140767" y="2781820"/>
                  </a:lnTo>
                  <a:lnTo>
                    <a:pt x="0" y="2781820"/>
                  </a:lnTo>
                  <a:close/>
                </a:path>
              </a:pathLst>
            </a:custGeom>
            <a:solidFill>
              <a:srgbClr val="379343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Google Shape;113;p15"/>
            <p:cNvSpPr txBox="1"/>
            <p:nvPr/>
          </p:nvSpPr>
          <p:spPr>
            <a:xfrm>
              <a:off x="0" y="-38100"/>
              <a:ext cx="140700" cy="28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5"/>
          <p:cNvSpPr/>
          <p:nvPr/>
        </p:nvSpPr>
        <p:spPr>
          <a:xfrm>
            <a:off x="5847735" y="3296827"/>
            <a:ext cx="1644038" cy="1231534"/>
          </a:xfrm>
          <a:custGeom>
            <a:avLst/>
            <a:gdLst/>
            <a:ahLst/>
            <a:cxnLst/>
            <a:rect l="l" t="t" r="r" b="b"/>
            <a:pathLst>
              <a:path w="3288075" h="2463067" extrusionOk="0">
                <a:moveTo>
                  <a:pt x="0" y="0"/>
                </a:moveTo>
                <a:lnTo>
                  <a:pt x="3288075" y="0"/>
                </a:lnTo>
                <a:lnTo>
                  <a:pt x="3288075" y="2463067"/>
                </a:lnTo>
                <a:lnTo>
                  <a:pt x="0" y="24630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Google Shape;115;p15"/>
          <p:cNvSpPr/>
          <p:nvPr/>
        </p:nvSpPr>
        <p:spPr>
          <a:xfrm>
            <a:off x="2110100" y="3866000"/>
            <a:ext cx="2026072" cy="1111869"/>
          </a:xfrm>
          <a:custGeom>
            <a:avLst/>
            <a:gdLst/>
            <a:ahLst/>
            <a:cxnLst/>
            <a:rect l="l" t="t" r="r" b="b"/>
            <a:pathLst>
              <a:path w="6588852" h="3706229" extrusionOk="0">
                <a:moveTo>
                  <a:pt x="0" y="0"/>
                </a:moveTo>
                <a:lnTo>
                  <a:pt x="6588853" y="0"/>
                </a:lnTo>
                <a:lnTo>
                  <a:pt x="6588853" y="3706229"/>
                </a:lnTo>
                <a:lnTo>
                  <a:pt x="0" y="37062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Google Shape;116;p15"/>
          <p:cNvSpPr txBox="1"/>
          <p:nvPr/>
        </p:nvSpPr>
        <p:spPr>
          <a:xfrm>
            <a:off x="358524" y="204463"/>
            <a:ext cx="4979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i="0" u="none" strike="noStrike" cap="none">
                <a:solidFill>
                  <a:srgbClr val="2199C8"/>
                </a:solidFill>
                <a:latin typeface="Montserrat"/>
                <a:ea typeface="Montserrat"/>
                <a:cs typeface="Montserrat"/>
                <a:sym typeface="Montserrat"/>
              </a:rPr>
              <a:t>Current Prototype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413260" y="892007"/>
            <a:ext cx="3421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i="0" u="none" strike="noStrike" cap="none">
                <a:solidFill>
                  <a:srgbClr val="E56325"/>
                </a:solidFill>
                <a:latin typeface="Montserrat"/>
                <a:ea typeface="Montserrat"/>
                <a:cs typeface="Montserrat"/>
                <a:sym typeface="Montserrat"/>
              </a:rPr>
              <a:t>How to Play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4654869" y="4793064"/>
            <a:ext cx="437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E56325"/>
                </a:solidFill>
              </a:rPr>
              <a:t>Solving the puzzle with the hints! Can be showcased too!</a:t>
            </a:r>
            <a:r>
              <a:rPr lang="en" sz="1200" b="1">
                <a:solidFill>
                  <a:schemeClr val="accent1"/>
                </a:solidFill>
              </a:rPr>
              <a:t> </a:t>
            </a:r>
            <a:r>
              <a:rPr lang="en" sz="1200" b="1">
                <a:solidFill>
                  <a:srgbClr val="379343"/>
                </a:solidFill>
              </a:rPr>
              <a:t> </a:t>
            </a:r>
            <a:endParaRPr sz="700"/>
          </a:p>
        </p:txBody>
      </p:sp>
      <p:pic>
        <p:nvPicPr>
          <p:cNvPr id="119" name="Google Shape;119;p15" title="be62eac0910fc576f2ebf7e542daee9a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68704" y="2844700"/>
            <a:ext cx="1356099" cy="1832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title="faa5972a0f8c104c40864b3e6ab7a962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82300" y="2844700"/>
            <a:ext cx="1421324" cy="184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6"/>
          <p:cNvGrpSpPr/>
          <p:nvPr/>
        </p:nvGrpSpPr>
        <p:grpSpPr>
          <a:xfrm>
            <a:off x="432473" y="843325"/>
            <a:ext cx="1937746" cy="523299"/>
            <a:chOff x="0" y="-66675"/>
            <a:chExt cx="1031100" cy="279600"/>
          </a:xfrm>
        </p:grpSpPr>
        <p:sp>
          <p:nvSpPr>
            <p:cNvPr id="126" name="Google Shape;126;p16"/>
            <p:cNvSpPr/>
            <p:nvPr/>
          </p:nvSpPr>
          <p:spPr>
            <a:xfrm>
              <a:off x="0" y="0"/>
              <a:ext cx="1031034" cy="212878"/>
            </a:xfrm>
            <a:custGeom>
              <a:avLst/>
              <a:gdLst/>
              <a:ahLst/>
              <a:cxnLst/>
              <a:rect l="l" t="t" r="r" b="b"/>
              <a:pathLst>
                <a:path w="1031034" h="212878" extrusionOk="0">
                  <a:moveTo>
                    <a:pt x="100860" y="0"/>
                  </a:moveTo>
                  <a:lnTo>
                    <a:pt x="930174" y="0"/>
                  </a:lnTo>
                  <a:cubicBezTo>
                    <a:pt x="956923" y="0"/>
                    <a:pt x="982577" y="10626"/>
                    <a:pt x="1001492" y="29541"/>
                  </a:cubicBezTo>
                  <a:cubicBezTo>
                    <a:pt x="1020407" y="48456"/>
                    <a:pt x="1031034" y="74110"/>
                    <a:pt x="1031034" y="100860"/>
                  </a:cubicBezTo>
                  <a:lnTo>
                    <a:pt x="1031034" y="112018"/>
                  </a:lnTo>
                  <a:cubicBezTo>
                    <a:pt x="1031034" y="167721"/>
                    <a:pt x="985877" y="212878"/>
                    <a:pt x="930174" y="212878"/>
                  </a:cubicBezTo>
                  <a:lnTo>
                    <a:pt x="100860" y="212878"/>
                  </a:lnTo>
                  <a:cubicBezTo>
                    <a:pt x="45157" y="212878"/>
                    <a:pt x="0" y="167721"/>
                    <a:pt x="0" y="112018"/>
                  </a:cubicBezTo>
                  <a:lnTo>
                    <a:pt x="0" y="100860"/>
                  </a:lnTo>
                  <a:cubicBezTo>
                    <a:pt x="0" y="45157"/>
                    <a:pt x="45157" y="0"/>
                    <a:pt x="100860" y="0"/>
                  </a:cubicBezTo>
                  <a:close/>
                </a:path>
              </a:pathLst>
            </a:custGeom>
            <a:solidFill>
              <a:srgbClr val="DFBF25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0" y="-66675"/>
              <a:ext cx="1031100" cy="27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16"/>
          <p:cNvGrpSpPr/>
          <p:nvPr/>
        </p:nvGrpSpPr>
        <p:grpSpPr>
          <a:xfrm>
            <a:off x="432525" y="1952652"/>
            <a:ext cx="2169720" cy="521318"/>
            <a:chOff x="0" y="-66675"/>
            <a:chExt cx="1131300" cy="274609"/>
          </a:xfrm>
        </p:grpSpPr>
        <p:sp>
          <p:nvSpPr>
            <p:cNvPr id="129" name="Google Shape;129;p16"/>
            <p:cNvSpPr/>
            <p:nvPr/>
          </p:nvSpPr>
          <p:spPr>
            <a:xfrm>
              <a:off x="0" y="0"/>
              <a:ext cx="1131232" cy="207934"/>
            </a:xfrm>
            <a:custGeom>
              <a:avLst/>
              <a:gdLst/>
              <a:ahLst/>
              <a:cxnLst/>
              <a:rect l="l" t="t" r="r" b="b"/>
              <a:pathLst>
                <a:path w="1131232" h="207934" extrusionOk="0">
                  <a:moveTo>
                    <a:pt x="91926" y="0"/>
                  </a:moveTo>
                  <a:lnTo>
                    <a:pt x="1039306" y="0"/>
                  </a:lnTo>
                  <a:cubicBezTo>
                    <a:pt x="1090076" y="0"/>
                    <a:pt x="1131232" y="41157"/>
                    <a:pt x="1131232" y="91926"/>
                  </a:cubicBezTo>
                  <a:lnTo>
                    <a:pt x="1131232" y="116008"/>
                  </a:lnTo>
                  <a:cubicBezTo>
                    <a:pt x="1131232" y="140388"/>
                    <a:pt x="1121547" y="163770"/>
                    <a:pt x="1104308" y="181009"/>
                  </a:cubicBezTo>
                  <a:cubicBezTo>
                    <a:pt x="1087068" y="198249"/>
                    <a:pt x="1063686" y="207934"/>
                    <a:pt x="1039306" y="207934"/>
                  </a:cubicBezTo>
                  <a:lnTo>
                    <a:pt x="91926" y="207934"/>
                  </a:lnTo>
                  <a:cubicBezTo>
                    <a:pt x="67546" y="207934"/>
                    <a:pt x="44164" y="198249"/>
                    <a:pt x="26925" y="181009"/>
                  </a:cubicBezTo>
                  <a:cubicBezTo>
                    <a:pt x="9685" y="163770"/>
                    <a:pt x="0" y="140388"/>
                    <a:pt x="0" y="116008"/>
                  </a:cubicBezTo>
                  <a:lnTo>
                    <a:pt x="0" y="91926"/>
                  </a:lnTo>
                  <a:cubicBezTo>
                    <a:pt x="0" y="41157"/>
                    <a:pt x="41157" y="0"/>
                    <a:pt x="91926" y="0"/>
                  </a:cubicBezTo>
                  <a:close/>
                </a:path>
              </a:pathLst>
            </a:custGeom>
            <a:solidFill>
              <a:srgbClr val="DFBF25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0" y="-66675"/>
              <a:ext cx="1131300" cy="27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p16"/>
          <p:cNvGrpSpPr/>
          <p:nvPr/>
        </p:nvGrpSpPr>
        <p:grpSpPr>
          <a:xfrm>
            <a:off x="432499" y="2975253"/>
            <a:ext cx="3786679" cy="521339"/>
            <a:chOff x="0" y="-66675"/>
            <a:chExt cx="1938110" cy="266847"/>
          </a:xfrm>
        </p:grpSpPr>
        <p:sp>
          <p:nvSpPr>
            <p:cNvPr id="132" name="Google Shape;132;p16"/>
            <p:cNvSpPr/>
            <p:nvPr/>
          </p:nvSpPr>
          <p:spPr>
            <a:xfrm>
              <a:off x="0" y="0"/>
              <a:ext cx="1938110" cy="200172"/>
            </a:xfrm>
            <a:custGeom>
              <a:avLst/>
              <a:gdLst/>
              <a:ahLst/>
              <a:cxnLst/>
              <a:rect l="l" t="t" r="r" b="b"/>
              <a:pathLst>
                <a:path w="1938110" h="200172" extrusionOk="0">
                  <a:moveTo>
                    <a:pt x="53655" y="0"/>
                  </a:moveTo>
                  <a:lnTo>
                    <a:pt x="1884454" y="0"/>
                  </a:lnTo>
                  <a:cubicBezTo>
                    <a:pt x="1914087" y="0"/>
                    <a:pt x="1938110" y="24022"/>
                    <a:pt x="1938110" y="53655"/>
                  </a:cubicBezTo>
                  <a:lnTo>
                    <a:pt x="1938110" y="146516"/>
                  </a:lnTo>
                  <a:cubicBezTo>
                    <a:pt x="1938110" y="160746"/>
                    <a:pt x="1932457" y="174394"/>
                    <a:pt x="1922394" y="184456"/>
                  </a:cubicBezTo>
                  <a:cubicBezTo>
                    <a:pt x="1912332" y="194519"/>
                    <a:pt x="1898685" y="200172"/>
                    <a:pt x="1884454" y="200172"/>
                  </a:cubicBezTo>
                  <a:lnTo>
                    <a:pt x="53655" y="200172"/>
                  </a:lnTo>
                  <a:cubicBezTo>
                    <a:pt x="24022" y="200172"/>
                    <a:pt x="0" y="176149"/>
                    <a:pt x="0" y="146516"/>
                  </a:cubicBezTo>
                  <a:lnTo>
                    <a:pt x="0" y="53655"/>
                  </a:lnTo>
                  <a:cubicBezTo>
                    <a:pt x="0" y="24022"/>
                    <a:pt x="24022" y="0"/>
                    <a:pt x="53655" y="0"/>
                  </a:cubicBezTo>
                  <a:close/>
                </a:path>
              </a:pathLst>
            </a:custGeom>
            <a:solidFill>
              <a:srgbClr val="DFBF25"/>
            </a:solidFill>
            <a:ln>
              <a:noFill/>
            </a:ln>
          </p:spPr>
          <p:txBody>
            <a:bodyPr spcFirstLastPara="1" wrap="square" lIns="47050" tIns="47050" rIns="47050" bIns="470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6"/>
            <p:cNvSpPr txBox="1"/>
            <p:nvPr/>
          </p:nvSpPr>
          <p:spPr>
            <a:xfrm>
              <a:off x="0" y="-66675"/>
              <a:ext cx="1938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6150" tIns="26150" rIns="26150" bIns="26150" anchor="ctr" anchorCtr="0">
              <a:noAutofit/>
            </a:bodyPr>
            <a:lstStyle/>
            <a:p>
              <a:pPr marL="0" marR="0" lvl="0" indent="0" algn="ctr" rtl="0">
                <a:lnSpc>
                  <a:spcPct val="186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2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16"/>
          <p:cNvGrpSpPr/>
          <p:nvPr/>
        </p:nvGrpSpPr>
        <p:grpSpPr>
          <a:xfrm>
            <a:off x="8923962" y="-136194"/>
            <a:ext cx="267232" cy="5353488"/>
            <a:chOff x="0" y="-38100"/>
            <a:chExt cx="140767" cy="2820000"/>
          </a:xfrm>
        </p:grpSpPr>
        <p:sp>
          <p:nvSpPr>
            <p:cNvPr id="135" name="Google Shape;135;p16"/>
            <p:cNvSpPr/>
            <p:nvPr/>
          </p:nvSpPr>
          <p:spPr>
            <a:xfrm>
              <a:off x="0" y="0"/>
              <a:ext cx="140767" cy="2781820"/>
            </a:xfrm>
            <a:custGeom>
              <a:avLst/>
              <a:gdLst/>
              <a:ahLst/>
              <a:cxnLst/>
              <a:rect l="l" t="t" r="r" b="b"/>
              <a:pathLst>
                <a:path w="140767" h="2781820" extrusionOk="0">
                  <a:moveTo>
                    <a:pt x="0" y="0"/>
                  </a:moveTo>
                  <a:lnTo>
                    <a:pt x="140767" y="0"/>
                  </a:lnTo>
                  <a:lnTo>
                    <a:pt x="140767" y="2781820"/>
                  </a:lnTo>
                  <a:lnTo>
                    <a:pt x="0" y="2781820"/>
                  </a:lnTo>
                  <a:close/>
                </a:path>
              </a:pathLst>
            </a:custGeom>
            <a:solidFill>
              <a:srgbClr val="379343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0" y="-38100"/>
              <a:ext cx="140700" cy="28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16"/>
          <p:cNvSpPr/>
          <p:nvPr/>
        </p:nvSpPr>
        <p:spPr>
          <a:xfrm>
            <a:off x="6201925" y="736175"/>
            <a:ext cx="1646748" cy="1646748"/>
          </a:xfrm>
          <a:custGeom>
            <a:avLst/>
            <a:gdLst/>
            <a:ahLst/>
            <a:cxnLst/>
            <a:rect l="l" t="t" r="r" b="b"/>
            <a:pathLst>
              <a:path w="5778062" h="5778062" extrusionOk="0">
                <a:moveTo>
                  <a:pt x="0" y="0"/>
                </a:moveTo>
                <a:lnTo>
                  <a:pt x="5778062" y="0"/>
                </a:lnTo>
                <a:lnTo>
                  <a:pt x="5778062" y="5778063"/>
                </a:lnTo>
                <a:lnTo>
                  <a:pt x="0" y="5778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Google Shape;138;p16"/>
          <p:cNvSpPr txBox="1"/>
          <p:nvPr/>
        </p:nvSpPr>
        <p:spPr>
          <a:xfrm>
            <a:off x="1054847" y="213425"/>
            <a:ext cx="3786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i="0" u="none" strike="noStrike" cap="none">
                <a:solidFill>
                  <a:srgbClr val="2199C8"/>
                </a:solidFill>
                <a:latin typeface="Montserrat"/>
                <a:ea typeface="Montserrat"/>
                <a:cs typeface="Montserrat"/>
                <a:sym typeface="Montserrat"/>
              </a:rPr>
              <a:t>Future Version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436515" y="1473330"/>
            <a:ext cx="46395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0" u="none" strike="noStrike" cap="non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Fully colored, stronger characters for each trash buddy, clearer icons for “clean/dry/food/danger.”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544278" y="1067507"/>
            <a:ext cx="2298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FFF6EF"/>
                </a:solidFill>
                <a:latin typeface="Montserrat"/>
                <a:ea typeface="Montserrat"/>
                <a:cs typeface="Montserrat"/>
                <a:sym typeface="Montserrat"/>
              </a:rPr>
              <a:t>Better visuals </a:t>
            </a:r>
            <a:r>
              <a:rPr lang="en" sz="1600" b="1" i="0" u="none" strike="noStrike" cap="none">
                <a:solidFill>
                  <a:srgbClr val="FFF6E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🎨</a:t>
            </a:r>
            <a:endParaRPr sz="700"/>
          </a:p>
        </p:txBody>
      </p:sp>
      <p:sp>
        <p:nvSpPr>
          <p:cNvPr id="141" name="Google Shape;141;p16"/>
          <p:cNvSpPr txBox="1"/>
          <p:nvPr/>
        </p:nvSpPr>
        <p:spPr>
          <a:xfrm>
            <a:off x="470115" y="3166160"/>
            <a:ext cx="4371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FFF6EF"/>
                </a:solidFill>
                <a:latin typeface="Montserrat"/>
                <a:ea typeface="Montserrat"/>
                <a:cs typeface="Montserrat"/>
                <a:sym typeface="Montserrat"/>
              </a:rPr>
              <a:t>Stronger sustainability connection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514693" y="2119572"/>
            <a:ext cx="2357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>
                <a:solidFill>
                  <a:srgbClr val="FFF6EF"/>
                </a:solidFill>
                <a:latin typeface="Montserrat"/>
                <a:ea typeface="Montserrat"/>
                <a:cs typeface="Montserrat"/>
                <a:sym typeface="Montserrat"/>
              </a:rPr>
              <a:t>Expanded Content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432465" y="2571670"/>
            <a:ext cx="49848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0" u="none" strike="noStrike" cap="non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Add more puzzle pieces by including more real-life items in each category (more variety + more challenge)</a:t>
            </a:r>
            <a:endParaRPr sz="1200">
              <a:solidFill>
                <a:srgbClr val="231F2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366526" y="3563573"/>
            <a:ext cx="4984800" cy="19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04800" algn="l" rtl="0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Design a handbook for children to learn better about each categories and game elements. </a:t>
            </a:r>
            <a:endParaRPr sz="1200">
              <a:solidFill>
                <a:srgbClr val="231F2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04800" algn="l" rtl="0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" sz="1200" i="0" u="none" strike="noStrike" cap="non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specially for age 9: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0" u="none" strike="noStrike" cap="non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Simple cause–effect feedback (e.g., wrong sorting → “pollution meter”; right sorting → “garden grows / city gets cleaner”).</a:t>
            </a:r>
            <a:endParaRPr sz="1200">
              <a:solidFill>
                <a:srgbClr val="231F2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231F2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231F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16" title="unnamed-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0075" y="2466213"/>
            <a:ext cx="3321001" cy="1589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</Words>
  <Application>Microsoft Macintosh PowerPoint</Application>
  <PresentationFormat>On-screen Show (16:9)</PresentationFormat>
  <Paragraphs>41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Calibri</vt:lpstr>
      <vt:lpstr>Montserrat</vt:lpstr>
      <vt:lpstr>Arial</vt:lpstr>
      <vt:lpstr>Poppins Medium</vt:lpstr>
      <vt:lpstr>Simple Light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Duan, Yuzhi</cp:lastModifiedBy>
  <cp:revision>1</cp:revision>
  <dcterms:modified xsi:type="dcterms:W3CDTF">2026-07-15T21:44:45Z</dcterms:modified>
</cp:coreProperties>
</file>